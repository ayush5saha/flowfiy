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354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595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>
              <a:alpha val="0"/>
            </a:srgbClr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pic>
        <p:nvPicPr>
          <p:cNvPr id="4" name="Image 0" descr="E:\CodeX Developemt\Flowfiy codex\flowfi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6888"/>
            <a:ext cx="113385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28832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0" y="-548640"/>
            <a:ext cx="5669280" cy="5669280"/>
          </a:xfrm>
          <a:prstGeom prst="arc">
            <a:avLst/>
          </a:prstGeom>
          <a:noFill/>
          <a:ln w="25400">
            <a:solidFill>
              <a:srgbClr val="7C3AED">
                <a:alpha val="28000"/>
              </a:srgbClr>
            </a:solidFill>
            <a:prstDash val="solid"/>
          </a:ln>
        </p:spPr>
      </p:sp>
      <p:pic>
        <p:nvPicPr>
          <p:cNvPr id="8" name="Image 1" descr="E:\CodeX Developemt\Flowfiy codex\flowfi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0624"/>
            <a:ext cx="1298448" cy="35661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9944" y="1042416"/>
            <a:ext cx="5148072" cy="3456432"/>
          </a:xfrm>
          <a:prstGeom prst="roundRect">
            <a:avLst>
              <a:gd name="adj" fmla="val 2646"/>
            </a:avLst>
          </a:prstGeom>
          <a:solidFill>
            <a:srgbClr val="101018"/>
          </a:solidFill>
          <a:ln w="9525">
            <a:solidFill>
              <a:srgbClr val="2F2642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2" descr="E:\CodeX Developemt\AI_Sales_outbound_system\screenshots\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078992"/>
            <a:ext cx="5074920" cy="33832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30352" y="1078992"/>
            <a:ext cx="1243584" cy="292608"/>
          </a:xfrm>
          <a:prstGeom prst="roundRect">
            <a:avLst>
              <a:gd name="adj" fmla="val 21875"/>
            </a:avLst>
          </a:prstGeom>
          <a:solidFill>
            <a:srgbClr val="18181B"/>
          </a:solidFill>
          <a:ln w="12700">
            <a:solidFill>
              <a:srgbClr val="18181B">
                <a:alpha val="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0080" y="1156716"/>
            <a:ext cx="10241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2026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502920" y="1490472"/>
            <a:ext cx="5486400" cy="2834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Outbound Platform That Doesn't Tax Your API</a:t>
            </a:r>
            <a:endParaRPr lang="en-US" sz="140" dirty="0"/>
          </a:p>
        </p:txBody>
      </p:sp>
      <p:sp>
        <p:nvSpPr>
          <p:cNvPr id="14" name="Text 9"/>
          <p:cNvSpPr/>
          <p:nvPr/>
        </p:nvSpPr>
        <p:spPr>
          <a:xfrm>
            <a:off x="530352" y="2834640"/>
            <a:ext cx="5074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AI agents. Full pipeline. Under 2 minutes per lead.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30352" y="3429000"/>
            <a:ext cx="3858768" cy="0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16" name="Text 11"/>
          <p:cNvSpPr/>
          <p:nvPr/>
        </p:nvSpPr>
        <p:spPr>
          <a:xfrm>
            <a:off x="530352" y="3749040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Saha, Founder &amp; CEO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30352" y="4059936"/>
            <a:ext cx="3108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Pune, India  |  flowfiy.com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30352" y="498348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11111A"/>
          </a:solidFill>
          <a:ln w="9525">
            <a:solidFill>
              <a:srgbClr val="2D244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94944" y="5138928"/>
            <a:ext cx="1005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94944" y="5495544"/>
            <a:ext cx="1005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2194560" y="498348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11111A"/>
          </a:solidFill>
          <a:ln w="9525">
            <a:solidFill>
              <a:srgbClr val="2D244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359152" y="5138928"/>
            <a:ext cx="1005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&lt;2m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2359152" y="5495544"/>
            <a:ext cx="1005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lead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3886200" y="498348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11111A"/>
          </a:solidFill>
          <a:ln w="9525">
            <a:solidFill>
              <a:srgbClr val="2D244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050792" y="5138928"/>
            <a:ext cx="1005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BYOK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4050792" y="5495544"/>
            <a:ext cx="1005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AI cost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>
              <a:alpha val="0"/>
            </a:srgbClr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pic>
        <p:nvPicPr>
          <p:cNvPr id="4" name="Image 0" descr="E:\CodeX Developemt\Flowfiy codex\flowfi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6888"/>
            <a:ext cx="113385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" y="758952"/>
            <a:ext cx="219456" cy="320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6812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228832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38912" y="1024128"/>
            <a:ext cx="6035040" cy="256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is broken - and expensive.</a:t>
            </a:r>
            <a:endParaRPr lang="en-US" sz="100" dirty="0"/>
          </a:p>
        </p:txBody>
      </p:sp>
      <p:sp>
        <p:nvSpPr>
          <p:cNvPr id="9" name="Text 6"/>
          <p:cNvSpPr/>
          <p:nvPr/>
        </p:nvSpPr>
        <p:spPr>
          <a:xfrm>
            <a:off x="457200" y="1673352"/>
            <a:ext cx="5394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are stacking expensive tools around a manual workflow that still produces generic outreach.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04304" y="1014984"/>
            <a:ext cx="4553712" cy="2907792"/>
          </a:xfrm>
          <a:prstGeom prst="roundRect">
            <a:avLst>
              <a:gd name="adj" fmla="val 3145"/>
            </a:avLst>
          </a:prstGeom>
          <a:solidFill>
            <a:srgbClr val="101018"/>
          </a:solidFill>
          <a:ln w="9525">
            <a:solidFill>
              <a:srgbClr val="2F2642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E:\CodeX Developemt\AI_Sales_outbound_system\screenshots\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051560"/>
            <a:ext cx="4480560" cy="2834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040880" y="1051560"/>
            <a:ext cx="4480560" cy="2834640"/>
          </a:xfrm>
          <a:prstGeom prst="rect">
            <a:avLst/>
          </a:prstGeom>
          <a:solidFill>
            <a:srgbClr val="09090F">
              <a:alpha val="82000"/>
            </a:srgbClr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2331720"/>
            <a:ext cx="2697480" cy="950976"/>
          </a:xfrm>
          <a:prstGeom prst="roundRect">
            <a:avLst>
              <a:gd name="adj" fmla="val 7692"/>
            </a:avLst>
          </a:prstGeom>
          <a:solidFill>
            <a:srgbClr val="14141C"/>
          </a:solidFill>
          <a:ln w="9525">
            <a:solidFill>
              <a:srgbClr val="27273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04088" y="2496312"/>
            <a:ext cx="1234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 hrs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04088" y="2862072"/>
            <a:ext cx="22128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research, qualification and writing per lead</a:t>
            </a:r>
            <a:endParaRPr lang="en-US" sz="840" dirty="0"/>
          </a:p>
        </p:txBody>
      </p:sp>
      <p:sp>
        <p:nvSpPr>
          <p:cNvPr id="16" name="Shape 12"/>
          <p:cNvSpPr/>
          <p:nvPr/>
        </p:nvSpPr>
        <p:spPr>
          <a:xfrm>
            <a:off x="3538728" y="2331720"/>
            <a:ext cx="2697480" cy="950976"/>
          </a:xfrm>
          <a:prstGeom prst="roundRect">
            <a:avLst>
              <a:gd name="adj" fmla="val 7692"/>
            </a:avLst>
          </a:prstGeom>
          <a:solidFill>
            <a:srgbClr val="14141C"/>
          </a:solidFill>
          <a:ln w="9525">
            <a:solidFill>
              <a:srgbClr val="27273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39896" y="2496312"/>
            <a:ext cx="1234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$60K-$90K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739896" y="2862072"/>
            <a:ext cx="22128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annual SDR cost for 1-2 qualified leads/day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502920" y="3593592"/>
            <a:ext cx="2697480" cy="950976"/>
          </a:xfrm>
          <a:prstGeom prst="roundRect">
            <a:avLst>
              <a:gd name="adj" fmla="val 7692"/>
            </a:avLst>
          </a:prstGeom>
          <a:solidFill>
            <a:srgbClr val="14141C"/>
          </a:solidFill>
          <a:ln w="9525">
            <a:solidFill>
              <a:srgbClr val="27273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04088" y="3758184"/>
            <a:ext cx="1234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704088" y="4123944"/>
            <a:ext cx="22128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emails go unopened when personalization is thin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3538728" y="3593592"/>
            <a:ext cx="2697480" cy="950976"/>
          </a:xfrm>
          <a:prstGeom prst="roundRect">
            <a:avLst>
              <a:gd name="adj" fmla="val 7692"/>
            </a:avLst>
          </a:prstGeom>
          <a:solidFill>
            <a:srgbClr val="14141C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739896" y="3758184"/>
            <a:ext cx="20513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$1.4K-$2.1K/mo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3739896" y="4123944"/>
            <a:ext cx="22128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 + Instantly + ZoomInfo minimum tool stack</a:t>
            </a:r>
            <a:endParaRPr lang="en-US" sz="840" dirty="0"/>
          </a:p>
        </p:txBody>
      </p:sp>
      <p:sp>
        <p:nvSpPr>
          <p:cNvPr id="25" name="Shape 21"/>
          <p:cNvSpPr/>
          <p:nvPr/>
        </p:nvSpPr>
        <p:spPr>
          <a:xfrm>
            <a:off x="7040880" y="4297680"/>
            <a:ext cx="4480560" cy="1261872"/>
          </a:xfrm>
          <a:prstGeom prst="roundRect">
            <a:avLst>
              <a:gd name="adj" fmla="val 5797"/>
            </a:avLst>
          </a:prstGeom>
          <a:solidFill>
            <a:srgbClr val="130F1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269480" y="4526280"/>
            <a:ext cx="16459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Tool-stack trap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269480" y="4828032"/>
            <a:ext cx="3886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 enriches, Instantly sends, ZoomInfo feeds, Apollo charges exports. None compounds full lead context into one pipeline.</a:t>
            </a:r>
            <a:endParaRPr lang="en-US" sz="920" dirty="0"/>
          </a:p>
        </p:txBody>
      </p:sp>
      <p:sp>
        <p:nvSpPr>
          <p:cNvPr id="28" name="Text 24"/>
          <p:cNvSpPr/>
          <p:nvPr/>
        </p:nvSpPr>
        <p:spPr>
          <a:xfrm>
            <a:off x="411480" y="6473952"/>
            <a:ext cx="9509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Founder-provided SDR/tool cost assumptions; unopened-rate cited as outbound benchmark in source deck.</a:t>
            </a:r>
            <a:endParaRPr lang="en-US" sz="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>
              <a:alpha val="0"/>
            </a:srgbClr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pic>
        <p:nvPicPr>
          <p:cNvPr id="4" name="Image 0" descr="E:\CodeX Developemt\Flowfiy codex\flowfi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6888"/>
            <a:ext cx="113385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" y="758952"/>
            <a:ext cx="219456" cy="320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6812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228832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38912" y="960120"/>
            <a:ext cx="6400800" cy="2468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Five AI agents. Zero SDR overhead.</a:t>
            </a:r>
            <a:endParaRPr lang="en-US" sz="100" dirty="0"/>
          </a:p>
        </p:txBody>
      </p:sp>
      <p:sp>
        <p:nvSpPr>
          <p:cNvPr id="9" name="Text 6"/>
          <p:cNvSpPr/>
          <p:nvPr/>
        </p:nvSpPr>
        <p:spPr>
          <a:xfrm>
            <a:off x="457200" y="1627632"/>
            <a:ext cx="5943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bring their own Anthropic API key. Flowfiy pays $0 in AI costs while each agent passes richer context to the next.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6995160" y="1956816"/>
            <a:ext cx="4507992" cy="3017520"/>
          </a:xfrm>
          <a:prstGeom prst="roundRect">
            <a:avLst>
              <a:gd name="adj" fmla="val 3030"/>
            </a:avLst>
          </a:prstGeom>
          <a:solidFill>
            <a:srgbClr val="101018"/>
          </a:solidFill>
          <a:ln w="9525">
            <a:solidFill>
              <a:srgbClr val="2F2642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E:\CodeX Developemt\AI_Sales_outbound_system\screenshots\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1956816"/>
            <a:ext cx="4434840" cy="2944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2468880"/>
            <a:ext cx="987552" cy="1591056"/>
          </a:xfrm>
          <a:prstGeom prst="roundRect">
            <a:avLst>
              <a:gd name="adj" fmla="val 7407"/>
            </a:avLst>
          </a:prstGeom>
          <a:solidFill>
            <a:srgbClr val="18181B"/>
          </a:solidFill>
          <a:ln w="9525">
            <a:solidFill>
              <a:srgbClr val="2B2B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9224" y="2651760"/>
            <a:ext cx="3840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49224" y="2944368"/>
            <a:ext cx="69494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 Analyzer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49224" y="3456432"/>
            <a:ext cx="694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ICP into a targeting signal</a:t>
            </a:r>
            <a:endParaRPr lang="en-US" sz="660" dirty="0"/>
          </a:p>
        </p:txBody>
      </p:sp>
      <p:sp>
        <p:nvSpPr>
          <p:cNvPr id="16" name="Shape 12"/>
          <p:cNvSpPr/>
          <p:nvPr/>
        </p:nvSpPr>
        <p:spPr>
          <a:xfrm>
            <a:off x="1490472" y="3246120"/>
            <a:ext cx="237744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17" name="Shape 13"/>
          <p:cNvSpPr/>
          <p:nvPr/>
        </p:nvSpPr>
        <p:spPr>
          <a:xfrm>
            <a:off x="1728216" y="2468880"/>
            <a:ext cx="987552" cy="1591056"/>
          </a:xfrm>
          <a:prstGeom prst="roundRect">
            <a:avLst>
              <a:gd name="adj" fmla="val 7407"/>
            </a:avLst>
          </a:prstGeom>
          <a:solidFill>
            <a:srgbClr val="11111A"/>
          </a:solidFill>
          <a:ln w="9525">
            <a:solidFill>
              <a:srgbClr val="2B2B3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874520" y="2651760"/>
            <a:ext cx="3840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874520" y="2944368"/>
            <a:ext cx="69494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Discovery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874520" y="3456432"/>
            <a:ext cx="694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275M+ Apollo contacts</a:t>
            </a:r>
            <a:endParaRPr lang="en-US" sz="660" dirty="0"/>
          </a:p>
        </p:txBody>
      </p:sp>
      <p:sp>
        <p:nvSpPr>
          <p:cNvPr id="21" name="Shape 17"/>
          <p:cNvSpPr/>
          <p:nvPr/>
        </p:nvSpPr>
        <p:spPr>
          <a:xfrm>
            <a:off x="2715768" y="3246120"/>
            <a:ext cx="237744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22" name="Shape 18"/>
          <p:cNvSpPr/>
          <p:nvPr/>
        </p:nvSpPr>
        <p:spPr>
          <a:xfrm>
            <a:off x="2953512" y="2468880"/>
            <a:ext cx="987552" cy="1591056"/>
          </a:xfrm>
          <a:prstGeom prst="roundRect">
            <a:avLst>
              <a:gd name="adj" fmla="val 7407"/>
            </a:avLst>
          </a:prstGeom>
          <a:solidFill>
            <a:srgbClr val="18181B"/>
          </a:solidFill>
          <a:ln w="9525">
            <a:solidFill>
              <a:srgbClr val="2B2B3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99816" y="2651760"/>
            <a:ext cx="3840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099816" y="2944368"/>
            <a:ext cx="69494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Analyzer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099816" y="3456432"/>
            <a:ext cx="694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funding, stack, hiring signals</a:t>
            </a:r>
            <a:endParaRPr lang="en-US" sz="660" dirty="0"/>
          </a:p>
        </p:txBody>
      </p:sp>
      <p:sp>
        <p:nvSpPr>
          <p:cNvPr id="26" name="Shape 22"/>
          <p:cNvSpPr/>
          <p:nvPr/>
        </p:nvSpPr>
        <p:spPr>
          <a:xfrm>
            <a:off x="3941064" y="3246120"/>
            <a:ext cx="237744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27" name="Shape 23"/>
          <p:cNvSpPr/>
          <p:nvPr/>
        </p:nvSpPr>
        <p:spPr>
          <a:xfrm>
            <a:off x="4178808" y="2468880"/>
            <a:ext cx="987552" cy="1591056"/>
          </a:xfrm>
          <a:prstGeom prst="roundRect">
            <a:avLst>
              <a:gd name="adj" fmla="val 7407"/>
            </a:avLst>
          </a:prstGeom>
          <a:solidFill>
            <a:srgbClr val="11111A"/>
          </a:solidFill>
          <a:ln w="9525">
            <a:solidFill>
              <a:srgbClr val="2B2B3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325112" y="2651760"/>
            <a:ext cx="3840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325112" y="2944368"/>
            <a:ext cx="69494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4325112" y="3456432"/>
            <a:ext cx="694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fit from 0-100</a:t>
            </a:r>
            <a:endParaRPr lang="en-US" sz="660" dirty="0"/>
          </a:p>
        </p:txBody>
      </p:sp>
      <p:sp>
        <p:nvSpPr>
          <p:cNvPr id="31" name="Shape 27"/>
          <p:cNvSpPr/>
          <p:nvPr/>
        </p:nvSpPr>
        <p:spPr>
          <a:xfrm>
            <a:off x="5166360" y="3246120"/>
            <a:ext cx="237744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32" name="Shape 28"/>
          <p:cNvSpPr/>
          <p:nvPr/>
        </p:nvSpPr>
        <p:spPr>
          <a:xfrm>
            <a:off x="5404104" y="2468880"/>
            <a:ext cx="987552" cy="1591056"/>
          </a:xfrm>
          <a:prstGeom prst="roundRect">
            <a:avLst>
              <a:gd name="adj" fmla="val 7407"/>
            </a:avLst>
          </a:prstGeom>
          <a:solidFill>
            <a:srgbClr val="18181B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550408" y="2651760"/>
            <a:ext cx="3840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5550408" y="2944368"/>
            <a:ext cx="69494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5550408" y="3456432"/>
            <a:ext cx="694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subject, email and follow-ups</a:t>
            </a:r>
            <a:endParaRPr lang="en-US" sz="660" dirty="0"/>
          </a:p>
        </p:txBody>
      </p:sp>
      <p:sp>
        <p:nvSpPr>
          <p:cNvPr id="36" name="Text 32"/>
          <p:cNvSpPr/>
          <p:nvPr/>
        </p:nvSpPr>
        <p:spPr>
          <a:xfrm>
            <a:off x="566928" y="4773168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 min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566928" y="5129784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lead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1984248" y="4773168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1984248" y="5129784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3401568" y="4773168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41" name="Text 37"/>
          <p:cNvSpPr/>
          <p:nvPr/>
        </p:nvSpPr>
        <p:spPr>
          <a:xfrm>
            <a:off x="3401568" y="5129784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cost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4818888" y="4773168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800" dirty="0"/>
          </a:p>
        </p:txBody>
      </p:sp>
      <p:sp>
        <p:nvSpPr>
          <p:cNvPr id="43" name="Text 39"/>
          <p:cNvSpPr/>
          <p:nvPr/>
        </p:nvSpPr>
        <p:spPr>
          <a:xfrm>
            <a:off x="4818888" y="5129784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delivery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>
              <a:alpha val="0"/>
            </a:srgbClr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pic>
        <p:nvPicPr>
          <p:cNvPr id="4" name="Image 0" descr="E:\CodeX Developemt\Flowfiy codex\flowfi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6888"/>
            <a:ext cx="113385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" y="758952"/>
            <a:ext cx="219456" cy="320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6812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228832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38912" y="950976"/>
            <a:ext cx="6400800" cy="2468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ICP to inbox in under 2 minutes.</a:t>
            </a:r>
            <a:endParaRPr lang="en-US" sz="100" dirty="0"/>
          </a:p>
        </p:txBody>
      </p:sp>
      <p:sp>
        <p:nvSpPr>
          <p:cNvPr id="9" name="Shape 6"/>
          <p:cNvSpPr/>
          <p:nvPr/>
        </p:nvSpPr>
        <p:spPr>
          <a:xfrm>
            <a:off x="502920" y="1719072"/>
            <a:ext cx="5394960" cy="530352"/>
          </a:xfrm>
          <a:prstGeom prst="roundRect">
            <a:avLst>
              <a:gd name="adj" fmla="val 13793"/>
            </a:avLst>
          </a:prstGeom>
          <a:solidFill>
            <a:srgbClr val="120F1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1892808"/>
            <a:ext cx="4800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input: "B2B SaaS · Fintech · 50-200 employees · hiring AE or SDR"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58584" y="950976"/>
            <a:ext cx="4507992" cy="2889504"/>
          </a:xfrm>
          <a:prstGeom prst="roundRect">
            <a:avLst>
              <a:gd name="adj" fmla="val 3165"/>
            </a:avLst>
          </a:prstGeom>
          <a:solidFill>
            <a:srgbClr val="101018"/>
          </a:solidFill>
          <a:ln w="9525">
            <a:solidFill>
              <a:srgbClr val="2F2642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E:\CodeX Developemt\AI_Sales_outbound_system\screenshots\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987552"/>
            <a:ext cx="4434840" cy="281635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66928" y="2606040"/>
            <a:ext cx="310896" cy="310896"/>
          </a:xfrm>
          <a:prstGeom prst="ellipse">
            <a:avLst/>
          </a:prstGeom>
          <a:solidFill>
            <a:srgbClr val="18181B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2688336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80" dirty="0"/>
          </a:p>
        </p:txBody>
      </p:sp>
      <p:sp>
        <p:nvSpPr>
          <p:cNvPr id="15" name="Shape 11"/>
          <p:cNvSpPr/>
          <p:nvPr/>
        </p:nvSpPr>
        <p:spPr>
          <a:xfrm>
            <a:off x="722376" y="2926080"/>
            <a:ext cx="0" cy="246888"/>
          </a:xfrm>
          <a:prstGeom prst="line">
            <a:avLst/>
          </a:prstGeom>
          <a:noFill/>
          <a:ln w="10160">
            <a:solidFill>
              <a:srgbClr val="3F3F46"/>
            </a:solidFill>
            <a:prstDash val="solid"/>
            <a:headEnd type="none"/>
            <a:tailEnd type="none"/>
          </a:ln>
        </p:spPr>
      </p:sp>
      <p:sp>
        <p:nvSpPr>
          <p:cNvPr id="16" name="Text 12"/>
          <p:cNvSpPr/>
          <p:nvPr/>
        </p:nvSpPr>
        <p:spPr>
          <a:xfrm>
            <a:off x="1033272" y="2624328"/>
            <a:ext cx="12435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 defined</a:t>
            </a:r>
            <a:endParaRPr lang="en-US" sz="980" dirty="0"/>
          </a:p>
        </p:txBody>
      </p:sp>
      <p:sp>
        <p:nvSpPr>
          <p:cNvPr id="17" name="Text 13"/>
          <p:cNvSpPr/>
          <p:nvPr/>
        </p:nvSpPr>
        <p:spPr>
          <a:xfrm>
            <a:off x="2212848" y="2624328"/>
            <a:ext cx="34198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SaaS fintech, 50-200 emp, AE/SDR hiring signal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566928" y="3209544"/>
            <a:ext cx="310896" cy="310896"/>
          </a:xfrm>
          <a:prstGeom prst="ellipse">
            <a:avLst/>
          </a:prstGeom>
          <a:solidFill>
            <a:srgbClr val="18181B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" y="3291840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80" dirty="0"/>
          </a:p>
        </p:txBody>
      </p:sp>
      <p:sp>
        <p:nvSpPr>
          <p:cNvPr id="20" name="Shape 16"/>
          <p:cNvSpPr/>
          <p:nvPr/>
        </p:nvSpPr>
        <p:spPr>
          <a:xfrm>
            <a:off x="722376" y="3529584"/>
            <a:ext cx="0" cy="246888"/>
          </a:xfrm>
          <a:prstGeom prst="line">
            <a:avLst/>
          </a:prstGeom>
          <a:noFill/>
          <a:ln w="10160">
            <a:solidFill>
              <a:srgbClr val="3F3F46"/>
            </a:solidFill>
            <a:prstDash val="solid"/>
            <a:headEnd type="none"/>
            <a:tailEnd type="none"/>
          </a:ln>
        </p:spPr>
      </p:sp>
      <p:sp>
        <p:nvSpPr>
          <p:cNvPr id="21" name="Text 17"/>
          <p:cNvSpPr/>
          <p:nvPr/>
        </p:nvSpPr>
        <p:spPr>
          <a:xfrm>
            <a:off x="1033272" y="3227832"/>
            <a:ext cx="12435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companies</a:t>
            </a:r>
            <a:endParaRPr lang="en-US" sz="980" dirty="0"/>
          </a:p>
        </p:txBody>
      </p:sp>
      <p:sp>
        <p:nvSpPr>
          <p:cNvPr id="22" name="Text 18"/>
          <p:cNvSpPr/>
          <p:nvPr/>
        </p:nvSpPr>
        <p:spPr>
          <a:xfrm>
            <a:off x="2212848" y="3227832"/>
            <a:ext cx="34198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Decision-maker contacts returned with </a:t>
            </a:r>
            <a:r>
              <a:rPr lang="en-US" sz="840" dirty="0" smtClean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Apollo/</a:t>
            </a:r>
            <a:r>
              <a:rPr lang="en-US" sz="840" dirty="0" err="1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840" dirty="0" err="1" smtClean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pify</a:t>
            </a:r>
            <a:r>
              <a:rPr lang="en-US" sz="840" dirty="0" smtClean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filters</a:t>
            </a:r>
            <a:endParaRPr lang="en-US" sz="840" dirty="0"/>
          </a:p>
        </p:txBody>
      </p:sp>
      <p:sp>
        <p:nvSpPr>
          <p:cNvPr id="23" name="Shape 19"/>
          <p:cNvSpPr/>
          <p:nvPr/>
        </p:nvSpPr>
        <p:spPr>
          <a:xfrm>
            <a:off x="566928" y="3813048"/>
            <a:ext cx="310896" cy="310896"/>
          </a:xfrm>
          <a:prstGeom prst="ellipse">
            <a:avLst/>
          </a:prstGeom>
          <a:solidFill>
            <a:srgbClr val="18181B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58368" y="3895344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80" dirty="0"/>
          </a:p>
        </p:txBody>
      </p:sp>
      <p:sp>
        <p:nvSpPr>
          <p:cNvPr id="25" name="Shape 21"/>
          <p:cNvSpPr/>
          <p:nvPr/>
        </p:nvSpPr>
        <p:spPr>
          <a:xfrm>
            <a:off x="722376" y="4133088"/>
            <a:ext cx="0" cy="246888"/>
          </a:xfrm>
          <a:prstGeom prst="line">
            <a:avLst/>
          </a:prstGeom>
          <a:noFill/>
          <a:ln w="10160">
            <a:solidFill>
              <a:srgbClr val="3F3F46"/>
            </a:solidFill>
            <a:prstDash val="solid"/>
            <a:headEnd type="none"/>
            <a:tailEnd type="none"/>
          </a:ln>
        </p:spPr>
      </p:sp>
      <p:sp>
        <p:nvSpPr>
          <p:cNvPr id="26" name="Text 22"/>
          <p:cNvSpPr/>
          <p:nvPr/>
        </p:nvSpPr>
        <p:spPr>
          <a:xfrm>
            <a:off x="1033272" y="3831336"/>
            <a:ext cx="12435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pulled</a:t>
            </a:r>
            <a:endParaRPr lang="en-US" sz="980" dirty="0"/>
          </a:p>
        </p:txBody>
      </p:sp>
      <p:sp>
        <p:nvSpPr>
          <p:cNvPr id="27" name="Text 23"/>
          <p:cNvSpPr/>
          <p:nvPr/>
        </p:nvSpPr>
        <p:spPr>
          <a:xfrm>
            <a:off x="2212848" y="3831336"/>
            <a:ext cx="34198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Funding, tech stack and growth signals per company</a:t>
            </a:r>
            <a:endParaRPr lang="en-US" sz="840" dirty="0"/>
          </a:p>
        </p:txBody>
      </p:sp>
      <p:sp>
        <p:nvSpPr>
          <p:cNvPr id="28" name="Shape 24"/>
          <p:cNvSpPr/>
          <p:nvPr/>
        </p:nvSpPr>
        <p:spPr>
          <a:xfrm>
            <a:off x="566928" y="4416552"/>
            <a:ext cx="310896" cy="310896"/>
          </a:xfrm>
          <a:prstGeom prst="ellipse">
            <a:avLst/>
          </a:prstGeom>
          <a:solidFill>
            <a:srgbClr val="18181B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8368" y="4498848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722376" y="4736592"/>
            <a:ext cx="0" cy="246888"/>
          </a:xfrm>
          <a:prstGeom prst="line">
            <a:avLst/>
          </a:prstGeom>
          <a:noFill/>
          <a:ln w="10160">
            <a:solidFill>
              <a:srgbClr val="3F3F46"/>
            </a:solidFill>
            <a:prstDash val="solid"/>
            <a:headEnd type="none"/>
            <a:tailEnd type="none"/>
          </a:ln>
        </p:spPr>
      </p:sp>
      <p:sp>
        <p:nvSpPr>
          <p:cNvPr id="31" name="Text 27"/>
          <p:cNvSpPr/>
          <p:nvPr/>
        </p:nvSpPr>
        <p:spPr>
          <a:xfrm>
            <a:off x="1033272" y="4434840"/>
            <a:ext cx="12435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ranked</a:t>
            </a:r>
            <a:endParaRPr lang="en-US" sz="980" dirty="0"/>
          </a:p>
        </p:txBody>
      </p:sp>
      <p:sp>
        <p:nvSpPr>
          <p:cNvPr id="32" name="Text 28"/>
          <p:cNvSpPr/>
          <p:nvPr/>
        </p:nvSpPr>
        <p:spPr>
          <a:xfrm>
            <a:off x="2212848" y="4434840"/>
            <a:ext cx="34198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94/100 · Razorpay 89/100 · Setu 81/100</a:t>
            </a:r>
            <a:endParaRPr lang="en-US" sz="840" dirty="0"/>
          </a:p>
        </p:txBody>
      </p:sp>
      <p:sp>
        <p:nvSpPr>
          <p:cNvPr id="33" name="Shape 29"/>
          <p:cNvSpPr/>
          <p:nvPr/>
        </p:nvSpPr>
        <p:spPr>
          <a:xfrm>
            <a:off x="566928" y="5020056"/>
            <a:ext cx="310896" cy="310896"/>
          </a:xfrm>
          <a:prstGeom prst="ellipse">
            <a:avLst/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58368" y="5102352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80" dirty="0"/>
          </a:p>
        </p:txBody>
      </p:sp>
      <p:sp>
        <p:nvSpPr>
          <p:cNvPr id="35" name="Text 31"/>
          <p:cNvSpPr/>
          <p:nvPr/>
        </p:nvSpPr>
        <p:spPr>
          <a:xfrm>
            <a:off x="1033272" y="5038344"/>
            <a:ext cx="12435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written</a:t>
            </a:r>
            <a:endParaRPr lang="en-US" sz="980" dirty="0"/>
          </a:p>
        </p:txBody>
      </p:sp>
      <p:sp>
        <p:nvSpPr>
          <p:cNvPr id="36" name="Text 32"/>
          <p:cNvSpPr/>
          <p:nvPr/>
        </p:nvSpPr>
        <p:spPr>
          <a:xfrm>
            <a:off x="2212848" y="5038344"/>
            <a:ext cx="34198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line, body and 2 follow-ups per lead</a:t>
            </a:r>
            <a:endParaRPr lang="en-US" sz="840" dirty="0"/>
          </a:p>
        </p:txBody>
      </p:sp>
      <p:sp>
        <p:nvSpPr>
          <p:cNvPr id="37" name="Shape 33"/>
          <p:cNvSpPr/>
          <p:nvPr/>
        </p:nvSpPr>
        <p:spPr>
          <a:xfrm>
            <a:off x="6995160" y="4224528"/>
            <a:ext cx="4434840" cy="1078992"/>
          </a:xfrm>
          <a:prstGeom prst="roundRect">
            <a:avLst>
              <a:gd name="adj" fmla="val 6780"/>
            </a:avLst>
          </a:prstGeom>
          <a:solidFill>
            <a:srgbClr val="11111A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242048" y="4462272"/>
            <a:ext cx="7315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7242048" y="4754880"/>
            <a:ext cx="3611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hyper-personalised, ready-to-send emails - one run, one platform.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>
              <a:alpha val="0"/>
            </a:srgbClr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pic>
        <p:nvPicPr>
          <p:cNvPr id="4" name="Image 0" descr="E:\CodeX Developemt\Flowfiy codex\flowfi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6888"/>
            <a:ext cx="113385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" y="758952"/>
            <a:ext cx="219456" cy="320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6812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228832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38912" y="960120"/>
            <a:ext cx="6492240" cy="2468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$58B market growing at 29.5% annually.</a:t>
            </a:r>
            <a:endParaRPr lang="en-US" sz="100" dirty="0"/>
          </a:p>
        </p:txBody>
      </p:sp>
      <p:sp>
        <p:nvSpPr>
          <p:cNvPr id="9" name="Text 6"/>
          <p:cNvSpPr/>
          <p:nvPr/>
        </p:nvSpPr>
        <p:spPr>
          <a:xfrm>
            <a:off x="457200" y="1600200"/>
            <a:ext cx="6126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Flowfiy sits at the intersection of AI sales automation, outbound infrastructure and APAC SaaS growth.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" y="2212848"/>
            <a:ext cx="1481328" cy="1481328"/>
          </a:xfrm>
          <a:prstGeom prst="ellipse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487168"/>
            <a:ext cx="5029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96112" y="2724912"/>
            <a:ext cx="9875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$58B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04088" y="3886200"/>
            <a:ext cx="13898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Sales &amp; Marketing by 2030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532888" y="2212848"/>
            <a:ext cx="1481328" cy="1481328"/>
          </a:xfrm>
          <a:prstGeom prst="ellipse">
            <a:avLst/>
          </a:prstGeom>
          <a:solidFill>
            <a:srgbClr val="4C1D95">
              <a:alpha val="90000"/>
            </a:srgbClr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2487168"/>
            <a:ext cx="5029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770632" y="2724912"/>
            <a:ext cx="9875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$4.12B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578608" y="3886200"/>
            <a:ext cx="13898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SDR &amp; outbound automation in 2025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407408" y="2212848"/>
            <a:ext cx="1481328" cy="1481328"/>
          </a:xfrm>
          <a:prstGeom prst="ellipse">
            <a:avLst/>
          </a:prstGeom>
          <a:solidFill>
            <a:srgbClr val="2411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2487168"/>
            <a:ext cx="5029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645152" y="2724912"/>
            <a:ext cx="9875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$41.2M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453128" y="3886200"/>
            <a:ext cx="13898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SAM capture at ~$99/mo in 3 years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784848" y="1417320"/>
            <a:ext cx="4590288" cy="3794760"/>
          </a:xfrm>
          <a:prstGeom prst="roundRect">
            <a:avLst>
              <a:gd name="adj" fmla="val 1928"/>
            </a:avLst>
          </a:prstGeom>
          <a:solidFill>
            <a:srgbClr val="11111A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95744" y="1828800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SDR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8275320" y="1874520"/>
            <a:ext cx="2331720" cy="146304"/>
          </a:xfrm>
          <a:prstGeom prst="rect">
            <a:avLst/>
          </a:prstGeom>
          <a:solidFill>
            <a:srgbClr val="27272F"/>
          </a:solidFill>
          <a:ln w="12700">
            <a:solidFill>
              <a:srgbClr val="2727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75320" y="1874520"/>
            <a:ext cx="641223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75320" y="2121408"/>
            <a:ext cx="2331720" cy="1463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835640" y="1810512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9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$4.12B</a:t>
            </a:r>
            <a:endParaRPr lang="en-US" sz="690" dirty="0"/>
          </a:p>
        </p:txBody>
      </p:sp>
      <p:sp>
        <p:nvSpPr>
          <p:cNvPr id="28" name="Text 25"/>
          <p:cNvSpPr/>
          <p:nvPr/>
        </p:nvSpPr>
        <p:spPr>
          <a:xfrm>
            <a:off x="10561320" y="2075688"/>
            <a:ext cx="7315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$15.01B</a:t>
            </a:r>
            <a:endParaRPr lang="en-US" sz="690" dirty="0"/>
          </a:p>
        </p:txBody>
      </p:sp>
      <p:sp>
        <p:nvSpPr>
          <p:cNvPr id="29" name="Text 26"/>
          <p:cNvSpPr/>
          <p:nvPr/>
        </p:nvSpPr>
        <p:spPr>
          <a:xfrm>
            <a:off x="7095744" y="2670048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Sales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8275320" y="2715768"/>
            <a:ext cx="2331720" cy="146304"/>
          </a:xfrm>
          <a:prstGeom prst="rect">
            <a:avLst/>
          </a:prstGeom>
          <a:solidFill>
            <a:srgbClr val="27272F"/>
          </a:solidFill>
          <a:ln w="12700">
            <a:solidFill>
              <a:srgbClr val="27272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75320" y="2715768"/>
            <a:ext cx="396392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75320" y="2962656"/>
            <a:ext cx="2238451" cy="1463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835640" y="2651760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9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$24.64B</a:t>
            </a:r>
            <a:endParaRPr lang="en-US" sz="690" dirty="0"/>
          </a:p>
        </p:txBody>
      </p:sp>
      <p:sp>
        <p:nvSpPr>
          <p:cNvPr id="34" name="Text 31"/>
          <p:cNvSpPr/>
          <p:nvPr/>
        </p:nvSpPr>
        <p:spPr>
          <a:xfrm>
            <a:off x="10561320" y="2916936"/>
            <a:ext cx="7315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$145.12B</a:t>
            </a:r>
            <a:endParaRPr lang="en-US" sz="690" dirty="0"/>
          </a:p>
        </p:txBody>
      </p:sp>
      <p:sp>
        <p:nvSpPr>
          <p:cNvPr id="35" name="Text 32"/>
          <p:cNvSpPr/>
          <p:nvPr/>
        </p:nvSpPr>
        <p:spPr>
          <a:xfrm>
            <a:off x="7095744" y="3511296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AI SDR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8275320" y="3557016"/>
            <a:ext cx="2331720" cy="146304"/>
          </a:xfrm>
          <a:prstGeom prst="rect">
            <a:avLst/>
          </a:prstGeom>
          <a:solidFill>
            <a:srgbClr val="27272F"/>
          </a:solidFill>
          <a:ln w="12700">
            <a:solidFill>
              <a:srgbClr val="27272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75320" y="3557016"/>
            <a:ext cx="79278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75320" y="3803904"/>
            <a:ext cx="1725473" cy="1463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835640" y="3493008"/>
            <a:ext cx="457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9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$1.09B</a:t>
            </a:r>
            <a:endParaRPr lang="en-US" sz="690" dirty="0"/>
          </a:p>
        </p:txBody>
      </p:sp>
      <p:sp>
        <p:nvSpPr>
          <p:cNvPr id="40" name="Text 37"/>
          <p:cNvSpPr/>
          <p:nvPr/>
        </p:nvSpPr>
        <p:spPr>
          <a:xfrm>
            <a:off x="10561320" y="3758184"/>
            <a:ext cx="7315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27.42% CAGR</a:t>
            </a:r>
            <a:endParaRPr lang="en-US" sz="690" dirty="0"/>
          </a:p>
        </p:txBody>
      </p:sp>
      <p:sp>
        <p:nvSpPr>
          <p:cNvPr id="41" name="Shape 38"/>
          <p:cNvSpPr/>
          <p:nvPr/>
        </p:nvSpPr>
        <p:spPr>
          <a:xfrm>
            <a:off x="7095744" y="4498848"/>
            <a:ext cx="3922776" cy="0"/>
          </a:xfrm>
          <a:prstGeom prst="line">
            <a:avLst/>
          </a:prstGeom>
          <a:noFill/>
          <a:ln w="7620">
            <a:solidFill>
              <a:srgbClr val="3F3F46"/>
            </a:solidFill>
            <a:prstDash val="solid"/>
            <a:headEnd type="none"/>
            <a:tailEnd type="none"/>
          </a:ln>
        </p:spPr>
      </p:sp>
      <p:sp>
        <p:nvSpPr>
          <p:cNvPr id="42" name="Text 39"/>
          <p:cNvSpPr/>
          <p:nvPr/>
        </p:nvSpPr>
        <p:spPr>
          <a:xfrm>
            <a:off x="7095744" y="4709160"/>
            <a:ext cx="3749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scale: Clay raised $100M at $3.1B valuation; Apollo reports 500,000+ customers.</a:t>
            </a:r>
            <a:endParaRPr lang="en-US" sz="810" dirty="0"/>
          </a:p>
        </p:txBody>
      </p:sp>
      <p:sp>
        <p:nvSpPr>
          <p:cNvPr id="43" name="Text 40"/>
          <p:cNvSpPr/>
          <p:nvPr/>
        </p:nvSpPr>
        <p:spPr>
          <a:xfrm>
            <a:off x="411480" y="6473952"/>
            <a:ext cx="9509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MarketsandMarkets AI SDR Market, Grand View Research AI in Sales, TechCrunch Clay Series C, McKinsey State of AI 2025</a:t>
            </a:r>
            <a:endParaRPr lang="en-US" sz="5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>
              <a:alpha val="0"/>
            </a:srgbClr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pic>
        <p:nvPicPr>
          <p:cNvPr id="4" name="Image 0" descr="E:\CodeX Developemt\Flowfiy codex\flowfi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6888"/>
            <a:ext cx="113385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" y="758952"/>
            <a:ext cx="219456" cy="320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6812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228832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38912" y="941832"/>
            <a:ext cx="6583680" cy="2377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+ generation pricing. No credits. No API tax.</a:t>
            </a:r>
            <a:endParaRPr lang="en-US" sz="10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6035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pricing with BYOK keeps Claude cost exposure at zero while customers get predictable usage.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22592" y="923544"/>
            <a:ext cx="4416552" cy="2862072"/>
          </a:xfrm>
          <a:prstGeom prst="roundRect">
            <a:avLst>
              <a:gd name="adj" fmla="val 3195"/>
            </a:avLst>
          </a:prstGeom>
          <a:solidFill>
            <a:srgbClr val="101018"/>
          </a:solidFill>
          <a:ln w="9525">
            <a:solidFill>
              <a:srgbClr val="2F2642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E:\CodeX Developemt\AI_Sales_outbound_system\screenshots\pric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960120"/>
            <a:ext cx="4343400" cy="2788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2212848"/>
            <a:ext cx="5897880" cy="2139696"/>
          </a:xfrm>
          <a:prstGeom prst="roundRect">
            <a:avLst>
              <a:gd name="adj" fmla="val 3419"/>
            </a:avLst>
          </a:prstGeom>
          <a:solidFill>
            <a:srgbClr val="11111A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2414016"/>
            <a:ext cx="7315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740" dirty="0"/>
          </a:p>
        </p:txBody>
      </p:sp>
      <p:sp>
        <p:nvSpPr>
          <p:cNvPr id="14" name="Text 10"/>
          <p:cNvSpPr/>
          <p:nvPr/>
        </p:nvSpPr>
        <p:spPr>
          <a:xfrm>
            <a:off x="1709928" y="2414016"/>
            <a:ext cx="6858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740" dirty="0"/>
          </a:p>
        </p:txBody>
      </p:sp>
      <p:sp>
        <p:nvSpPr>
          <p:cNvPr id="15" name="Text 11"/>
          <p:cNvSpPr/>
          <p:nvPr/>
        </p:nvSpPr>
        <p:spPr>
          <a:xfrm>
            <a:off x="2651760" y="2414016"/>
            <a:ext cx="12344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Generations</a:t>
            </a:r>
            <a:endParaRPr lang="en-US" sz="740" dirty="0"/>
          </a:p>
        </p:txBody>
      </p:sp>
      <p:sp>
        <p:nvSpPr>
          <p:cNvPr id="16" name="Text 12"/>
          <p:cNvSpPr/>
          <p:nvPr/>
        </p:nvSpPr>
        <p:spPr>
          <a:xfrm>
            <a:off x="4206240" y="2414016"/>
            <a:ext cx="5029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Seats</a:t>
            </a:r>
            <a:endParaRPr lang="en-US" sz="740" dirty="0"/>
          </a:p>
        </p:txBody>
      </p:sp>
      <p:sp>
        <p:nvSpPr>
          <p:cNvPr id="17" name="Text 13"/>
          <p:cNvSpPr/>
          <p:nvPr/>
        </p:nvSpPr>
        <p:spPr>
          <a:xfrm>
            <a:off x="4873752" y="2414016"/>
            <a:ext cx="11704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740" dirty="0"/>
          </a:p>
        </p:txBody>
      </p:sp>
      <p:sp>
        <p:nvSpPr>
          <p:cNvPr id="18" name="Text 14"/>
          <p:cNvSpPr/>
          <p:nvPr/>
        </p:nvSpPr>
        <p:spPr>
          <a:xfrm>
            <a:off x="685800" y="2779776"/>
            <a:ext cx="777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709928" y="2779776"/>
            <a:ext cx="6858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$0/mo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2651760" y="2779776"/>
            <a:ext cx="126187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lifetime generations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4206240" y="2779776"/>
            <a:ext cx="5029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seat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4873752" y="2779776"/>
            <a:ext cx="117043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funnel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85800" y="3136392"/>
            <a:ext cx="777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709928" y="3136392"/>
            <a:ext cx="6858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2651760" y="3136392"/>
            <a:ext cx="126187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gen/month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4206240" y="3136392"/>
            <a:ext cx="5029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seat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873752" y="3136392"/>
            <a:ext cx="117043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Freelancers &amp; founders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576072" y="3419856"/>
            <a:ext cx="5705856" cy="301752"/>
          </a:xfrm>
          <a:prstGeom prst="rect">
            <a:avLst/>
          </a:prstGeom>
          <a:solidFill>
            <a:srgbClr val="1E1430"/>
          </a:solidFill>
          <a:ln w="12700">
            <a:solidFill>
              <a:srgbClr val="1E143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85800" y="3493008"/>
            <a:ext cx="777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1709928" y="3493008"/>
            <a:ext cx="6858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$99/mo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2651760" y="3493008"/>
            <a:ext cx="126187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gen/month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4206240" y="3493008"/>
            <a:ext cx="5029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seats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4873752" y="3493008"/>
            <a:ext cx="117043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Early-stage teams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685800" y="3849624"/>
            <a:ext cx="7772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709928" y="3849624"/>
            <a:ext cx="6858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$249/mo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2651760" y="3849624"/>
            <a:ext cx="126187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gen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4206240" y="3849624"/>
            <a:ext cx="5029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seats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4873752" y="3849624"/>
            <a:ext cx="117043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 &amp; scale-ups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7114032" y="4224528"/>
            <a:ext cx="10789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~95%+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7114032" y="4581144"/>
            <a:ext cx="10789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8467344" y="4224528"/>
            <a:ext cx="10789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$0.002</a:t>
            </a:r>
            <a:endParaRPr lang="en-US" sz="1800" dirty="0"/>
          </a:p>
        </p:txBody>
      </p:sp>
      <p:sp>
        <p:nvSpPr>
          <p:cNvPr id="42" name="Text 38"/>
          <p:cNvSpPr/>
          <p:nvPr/>
        </p:nvSpPr>
        <p:spPr>
          <a:xfrm>
            <a:off x="8467344" y="4581144"/>
            <a:ext cx="10789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cost/gen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9820656" y="4224528"/>
            <a:ext cx="10789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44" name="Text 40"/>
          <p:cNvSpPr/>
          <p:nvPr/>
        </p:nvSpPr>
        <p:spPr>
          <a:xfrm>
            <a:off x="9820656" y="4581144"/>
            <a:ext cx="10789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subs break-even</a:t>
            </a:r>
            <a:endParaRPr lang="en-US" sz="740" dirty="0"/>
          </a:p>
        </p:txBody>
      </p:sp>
      <p:sp>
        <p:nvSpPr>
          <p:cNvPr id="45" name="Text 41"/>
          <p:cNvSpPr/>
          <p:nvPr/>
        </p:nvSpPr>
        <p:spPr>
          <a:xfrm>
            <a:off x="7114032" y="5230368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stack: Railway + Vercel + Supabase</a:t>
            </a:r>
            <a:endParaRPr lang="en-US" sz="840" dirty="0"/>
          </a:p>
        </p:txBody>
      </p:sp>
      <p:sp>
        <p:nvSpPr>
          <p:cNvPr id="46" name="Text 42"/>
          <p:cNvSpPr/>
          <p:nvPr/>
        </p:nvSpPr>
        <p:spPr>
          <a:xfrm>
            <a:off x="411480" y="6473952"/>
            <a:ext cx="9509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pricing cited from founder-provided market scan; margins assume BYOK Claude model and stated infra cost.</a:t>
            </a:r>
            <a:endParaRPr lang="en-US" sz="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>
              <a:alpha val="0"/>
            </a:srgbClr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pic>
        <p:nvPicPr>
          <p:cNvPr id="4" name="Image 0" descr="E:\CodeX Developemt\Flowfiy codex\flowfi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6888"/>
            <a:ext cx="113385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" y="758952"/>
            <a:ext cx="219456" cy="320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6812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228832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38912" y="932688"/>
            <a:ext cx="6492240" cy="2377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unfair advantages no competitor can copy today.</a:t>
            </a:r>
            <a:endParaRPr lang="en-US" sz="100" dirty="0"/>
          </a:p>
        </p:txBody>
      </p:sp>
      <p:sp>
        <p:nvSpPr>
          <p:cNvPr id="9" name="Shape 6"/>
          <p:cNvSpPr/>
          <p:nvPr/>
        </p:nvSpPr>
        <p:spPr>
          <a:xfrm>
            <a:off x="7296912" y="877824"/>
            <a:ext cx="3959352" cy="2587752"/>
          </a:xfrm>
          <a:prstGeom prst="roundRect">
            <a:avLst>
              <a:gd name="adj" fmla="val 3534"/>
            </a:avLst>
          </a:prstGeom>
          <a:solidFill>
            <a:srgbClr val="101018"/>
          </a:solidFill>
          <a:ln w="9525">
            <a:solidFill>
              <a:srgbClr val="2F2642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E:\CodeX Developemt\AI_Sales_outbound_system\screenshots\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914400"/>
            <a:ext cx="3886200" cy="2514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" y="1847088"/>
            <a:ext cx="2761488" cy="3611880"/>
          </a:xfrm>
          <a:prstGeom prst="roundRect">
            <a:avLst>
              <a:gd name="adj" fmla="val 2649"/>
            </a:avLst>
          </a:prstGeom>
          <a:solidFill>
            <a:srgbClr val="120F1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0664" y="2130552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BYOK Model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40664" y="2432304"/>
            <a:ext cx="2057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API Cost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58952" y="2971800"/>
            <a:ext cx="64008" cy="640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05256" y="2889504"/>
            <a:ext cx="2011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connect their own Anthropic key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758952" y="3474720"/>
            <a:ext cx="64008" cy="640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5256" y="3392424"/>
            <a:ext cx="2011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Flowfiy pays $0 in Claude costs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758952" y="3977640"/>
            <a:ext cx="64008" cy="640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05256" y="3895344"/>
            <a:ext cx="2011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 gross margin vs 60-70% category norm</a:t>
            </a:r>
            <a:endParaRPr lang="en-US" sz="820" dirty="0"/>
          </a:p>
        </p:txBody>
      </p:sp>
      <p:sp>
        <p:nvSpPr>
          <p:cNvPr id="20" name="Shape 16"/>
          <p:cNvSpPr/>
          <p:nvPr/>
        </p:nvSpPr>
        <p:spPr>
          <a:xfrm>
            <a:off x="758952" y="4480560"/>
            <a:ext cx="64008" cy="640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05256" y="4398264"/>
            <a:ext cx="2011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surprise bills or platform-tied usage caps</a:t>
            </a:r>
            <a:endParaRPr lang="en-US" sz="820" dirty="0"/>
          </a:p>
        </p:txBody>
      </p:sp>
      <p:sp>
        <p:nvSpPr>
          <p:cNvPr id="22" name="Shape 18"/>
          <p:cNvSpPr/>
          <p:nvPr/>
        </p:nvSpPr>
        <p:spPr>
          <a:xfrm>
            <a:off x="3685032" y="1847088"/>
            <a:ext cx="2761488" cy="3611880"/>
          </a:xfrm>
          <a:prstGeom prst="roundRect">
            <a:avLst>
              <a:gd name="adj" fmla="val 2649"/>
            </a:avLst>
          </a:prstGeom>
          <a:solidFill>
            <a:srgbClr val="11111A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922776" y="2130552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Pipeline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922776" y="2432304"/>
            <a:ext cx="2057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Tool Stacking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3941064" y="2971800"/>
            <a:ext cx="64008" cy="640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087368" y="2889504"/>
            <a:ext cx="2011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 enriches only; it cannot send emails</a:t>
            </a:r>
            <a:endParaRPr lang="en-US" sz="820" dirty="0"/>
          </a:p>
        </p:txBody>
      </p:sp>
      <p:sp>
        <p:nvSpPr>
          <p:cNvPr id="27" name="Shape 23"/>
          <p:cNvSpPr/>
          <p:nvPr/>
        </p:nvSpPr>
        <p:spPr>
          <a:xfrm>
            <a:off x="3941064" y="3474720"/>
            <a:ext cx="64008" cy="640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087368" y="3392424"/>
            <a:ext cx="2011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needs ZoomInfo + enrichment to work</a:t>
            </a:r>
            <a:endParaRPr lang="en-US" sz="820" dirty="0"/>
          </a:p>
        </p:txBody>
      </p:sp>
      <p:sp>
        <p:nvSpPr>
          <p:cNvPr id="29" name="Shape 25"/>
          <p:cNvSpPr/>
          <p:nvPr/>
        </p:nvSpPr>
        <p:spPr>
          <a:xfrm>
            <a:off x="3941064" y="3977640"/>
            <a:ext cx="64008" cy="640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087368" y="3895344"/>
            <a:ext cx="2011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blasts email without ICP research</a:t>
            </a:r>
            <a:endParaRPr lang="en-US" sz="820" dirty="0"/>
          </a:p>
        </p:txBody>
      </p:sp>
      <p:sp>
        <p:nvSpPr>
          <p:cNvPr id="31" name="Shape 27"/>
          <p:cNvSpPr/>
          <p:nvPr/>
        </p:nvSpPr>
        <p:spPr>
          <a:xfrm>
            <a:off x="3941064" y="4480560"/>
            <a:ext cx="64008" cy="640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087368" y="4398264"/>
            <a:ext cx="2011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Flowfiy runs ICP -&gt; discovery -&gt; research -&gt; scoring -&gt; copy -&gt; Gmail</a:t>
            </a:r>
            <a:endParaRPr lang="en-US" sz="820" dirty="0"/>
          </a:p>
        </p:txBody>
      </p:sp>
      <p:sp>
        <p:nvSpPr>
          <p:cNvPr id="33" name="Shape 29"/>
          <p:cNvSpPr/>
          <p:nvPr/>
        </p:nvSpPr>
        <p:spPr>
          <a:xfrm>
            <a:off x="7333488" y="3913632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120F1E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571232" y="4178808"/>
            <a:ext cx="16459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intelligence</a:t>
            </a:r>
            <a:endParaRPr lang="en-US" sz="920" dirty="0"/>
          </a:p>
        </p:txBody>
      </p:sp>
      <p:sp>
        <p:nvSpPr>
          <p:cNvPr id="35" name="Text 31"/>
          <p:cNvSpPr/>
          <p:nvPr/>
        </p:nvSpPr>
        <p:spPr>
          <a:xfrm>
            <a:off x="7571232" y="4462272"/>
            <a:ext cx="32004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hands full context to the next, producing a better lead, score and message than stitched tools can.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>
              <a:alpha val="0"/>
            </a:srgbClr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pic>
        <p:nvPicPr>
          <p:cNvPr id="4" name="Image 0" descr="E:\CodeX Developemt\Flowfiy codex\flowfi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6888"/>
            <a:ext cx="113385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" y="758952"/>
            <a:ext cx="219456" cy="320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6812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228832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38912" y="960120"/>
            <a:ext cx="5943600" cy="256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Built. Tested. Ready to launch.</a:t>
            </a:r>
            <a:endParaRPr lang="en-US" sz="10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5760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not a concept deck: the pipeline, billing, delivery and multi-tenant foundation are already live.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58584" y="877824"/>
            <a:ext cx="4462272" cy="2816352"/>
          </a:xfrm>
          <a:prstGeom prst="roundRect">
            <a:avLst>
              <a:gd name="adj" fmla="val 3247"/>
            </a:avLst>
          </a:prstGeom>
          <a:solidFill>
            <a:srgbClr val="101018"/>
          </a:solidFill>
          <a:ln w="9525">
            <a:solidFill>
              <a:srgbClr val="2F2642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E:\CodeX Developemt\AI_Sales_outbound_system\screenshots\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914400"/>
            <a:ext cx="4389120" cy="2743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66928" y="235000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1248" y="2322576"/>
            <a:ext cx="4937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5-agent pipeline production-ready</a:t>
            </a:r>
            <a:endParaRPr lang="en-US" sz="910" dirty="0"/>
          </a:p>
        </p:txBody>
      </p:sp>
      <p:sp>
        <p:nvSpPr>
          <p:cNvPr id="14" name="Shape 10"/>
          <p:cNvSpPr/>
          <p:nvPr/>
        </p:nvSpPr>
        <p:spPr>
          <a:xfrm>
            <a:off x="566928" y="276148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1248" y="2734056"/>
            <a:ext cx="4937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Supabase + BullMQ + Railway/Vercel stack</a:t>
            </a:r>
            <a:endParaRPr lang="en-US" sz="910" dirty="0"/>
          </a:p>
        </p:txBody>
      </p:sp>
      <p:sp>
        <p:nvSpPr>
          <p:cNvPr id="16" name="Shape 12"/>
          <p:cNvSpPr/>
          <p:nvPr/>
        </p:nvSpPr>
        <p:spPr>
          <a:xfrm>
            <a:off x="566928" y="31729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41248" y="3145536"/>
            <a:ext cx="4937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BYOK architecture validated with zero Claude cost exposure</a:t>
            </a:r>
            <a:endParaRPr lang="en-US" sz="910" dirty="0"/>
          </a:p>
        </p:txBody>
      </p:sp>
      <p:sp>
        <p:nvSpPr>
          <p:cNvPr id="18" name="Shape 14"/>
          <p:cNvSpPr/>
          <p:nvPr/>
        </p:nvSpPr>
        <p:spPr>
          <a:xfrm>
            <a:off x="566928" y="358444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1248" y="3557016"/>
            <a:ext cx="4937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billing + webhook-driven generation limits live</a:t>
            </a:r>
            <a:endParaRPr lang="en-US" sz="910" dirty="0"/>
          </a:p>
        </p:txBody>
      </p:sp>
      <p:sp>
        <p:nvSpPr>
          <p:cNvPr id="20" name="Shape 16"/>
          <p:cNvSpPr/>
          <p:nvPr/>
        </p:nvSpPr>
        <p:spPr>
          <a:xfrm>
            <a:off x="566928" y="399592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41248" y="3968496"/>
            <a:ext cx="4937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OAuth outreach integration complete</a:t>
            </a:r>
            <a:endParaRPr lang="en-US" sz="910" dirty="0"/>
          </a:p>
        </p:txBody>
      </p:sp>
      <p:sp>
        <p:nvSpPr>
          <p:cNvPr id="22" name="Shape 18"/>
          <p:cNvSpPr/>
          <p:nvPr/>
        </p:nvSpPr>
        <p:spPr>
          <a:xfrm>
            <a:off x="566928" y="440740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41248" y="4379976"/>
            <a:ext cx="4937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architecture with per-org isolation</a:t>
            </a:r>
            <a:endParaRPr lang="en-US" sz="910" dirty="0"/>
          </a:p>
        </p:txBody>
      </p:sp>
      <p:sp>
        <p:nvSpPr>
          <p:cNvPr id="24" name="Shape 20"/>
          <p:cNvSpPr/>
          <p:nvPr/>
        </p:nvSpPr>
        <p:spPr>
          <a:xfrm>
            <a:off x="6995160" y="4041648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11111A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42048" y="4325112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7242048" y="4617720"/>
            <a:ext cx="3611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of enterprises use AI in at least one function; Clay's $3.1B Series C validates AI GTM automation; APAC AI SDR is the fastest-growing region.</a:t>
            </a:r>
            <a:endParaRPr lang="en-US" sz="880" dirty="0"/>
          </a:p>
        </p:txBody>
      </p:sp>
      <p:sp>
        <p:nvSpPr>
          <p:cNvPr id="27" name="Text 23"/>
          <p:cNvSpPr/>
          <p:nvPr/>
        </p:nvSpPr>
        <p:spPr>
          <a:xfrm>
            <a:off x="411480" y="6473952"/>
            <a:ext cx="9509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McKinsey State of AI 2025; TechCrunch Clay Series C; MarketsandMarkets AI SDR market.</a:t>
            </a:r>
            <a:endParaRPr lang="en-US" sz="5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>
              <a:alpha val="0"/>
            </a:srgbClr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pic>
        <p:nvPicPr>
          <p:cNvPr id="4" name="Image 0" descr="E:\CodeX Developemt\Flowfiy codex\flowfi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6888"/>
            <a:ext cx="113385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" y="758952"/>
            <a:ext cx="219456" cy="320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6812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UTILISATION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228832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38912" y="941832"/>
            <a:ext cx="6675120" cy="2468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$300,000 · 18-month runway · Series A ready.</a:t>
            </a:r>
            <a:endParaRPr lang="en-US" sz="10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4937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SAFE Note · $3M pre-money valuation · 10% equity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5216" y="2286000"/>
            <a:ext cx="2139696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24912" y="2286000"/>
            <a:ext cx="1604772" cy="4023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29684" y="2286000"/>
            <a:ext cx="802386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32070" y="2286000"/>
            <a:ext cx="534924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6994" y="2286000"/>
            <a:ext cx="26746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" y="3081528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" y="3035808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Engineering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2743200" y="3035808"/>
            <a:ext cx="960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-&gt; $120,000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3822192" y="3035808"/>
            <a:ext cx="2423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dev, mobile app, integrations, new agents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603504" y="3538728"/>
            <a:ext cx="128016" cy="1280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392" y="3493008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Marketing / GTM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43200" y="3493008"/>
            <a:ext cx="960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-&gt; $90,000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3822192" y="3493008"/>
            <a:ext cx="2423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acquisition, SEO, Product Hunt, partnerships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603504" y="3995928"/>
            <a:ext cx="128016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0392" y="3950208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DevOps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2743200" y="3950208"/>
            <a:ext cx="960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-&gt; $45,000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3822192" y="3950208"/>
            <a:ext cx="2423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Scale-up, monitoring, security audits, SLAs</a:t>
            </a:r>
            <a:endParaRPr lang="en-US" sz="760" dirty="0"/>
          </a:p>
        </p:txBody>
      </p:sp>
      <p:sp>
        <p:nvSpPr>
          <p:cNvPr id="27" name="Shape 24"/>
          <p:cNvSpPr/>
          <p:nvPr/>
        </p:nvSpPr>
        <p:spPr>
          <a:xfrm>
            <a:off x="603504" y="4453128"/>
            <a:ext cx="128016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0392" y="4407408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Talent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2743200" y="4407408"/>
            <a:ext cx="960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-&gt; $30,000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3822192" y="4407408"/>
            <a:ext cx="2423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full-stack engineer, part-time growth marketer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603504" y="4910328"/>
            <a:ext cx="12801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0392" y="4864608"/>
            <a:ext cx="1737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Compliance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2743200" y="4864608"/>
            <a:ext cx="960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-&gt; $15,000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3822192" y="4864608"/>
            <a:ext cx="2423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Incorporation, SAFE docs, IP, GDPR/DPDP</a:t>
            </a:r>
            <a:endParaRPr lang="en-US" sz="760" dirty="0"/>
          </a:p>
        </p:txBody>
      </p:sp>
      <p:sp>
        <p:nvSpPr>
          <p:cNvPr id="35" name="Shape 32"/>
          <p:cNvSpPr/>
          <p:nvPr/>
        </p:nvSpPr>
        <p:spPr>
          <a:xfrm>
            <a:off x="6995160" y="1417320"/>
            <a:ext cx="4343400" cy="4069080"/>
          </a:xfrm>
          <a:prstGeom prst="roundRect">
            <a:avLst>
              <a:gd name="adj" fmla="val 1798"/>
            </a:avLst>
          </a:prstGeom>
          <a:solidFill>
            <a:srgbClr val="11111A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96912" y="1755648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at month </a:t>
            </a:r>
            <a:r>
              <a:rPr lang="en-US" sz="102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7333488" y="2331720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300" dirty="0"/>
          </a:p>
        </p:txBody>
      </p:sp>
      <p:sp>
        <p:nvSpPr>
          <p:cNvPr id="38" name="Text 35"/>
          <p:cNvSpPr/>
          <p:nvPr/>
        </p:nvSpPr>
        <p:spPr>
          <a:xfrm>
            <a:off x="7333488" y="2688336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customers</a:t>
            </a:r>
            <a:endParaRPr lang="en-US" sz="820" dirty="0"/>
          </a:p>
        </p:txBody>
      </p:sp>
      <p:sp>
        <p:nvSpPr>
          <p:cNvPr id="39" name="Text 36"/>
          <p:cNvSpPr/>
          <p:nvPr/>
        </p:nvSpPr>
        <p:spPr>
          <a:xfrm>
            <a:off x="7333488" y="3200400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$49K+</a:t>
            </a:r>
            <a:endParaRPr lang="en-US" sz="2300" dirty="0"/>
          </a:p>
        </p:txBody>
      </p:sp>
      <p:sp>
        <p:nvSpPr>
          <p:cNvPr id="40" name="Text 37"/>
          <p:cNvSpPr/>
          <p:nvPr/>
        </p:nvSpPr>
        <p:spPr>
          <a:xfrm>
            <a:off x="7333488" y="3557016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at avg $99/customer</a:t>
            </a:r>
            <a:endParaRPr lang="en-US" sz="820" dirty="0"/>
          </a:p>
        </p:txBody>
      </p:sp>
      <p:sp>
        <p:nvSpPr>
          <p:cNvPr id="41" name="Text 38"/>
          <p:cNvSpPr/>
          <p:nvPr/>
        </p:nvSpPr>
        <p:spPr>
          <a:xfrm>
            <a:off x="7333488" y="4069080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</a:t>
            </a:r>
            <a:endParaRPr lang="en-US" sz="2300" dirty="0"/>
          </a:p>
        </p:txBody>
      </p:sp>
      <p:sp>
        <p:nvSpPr>
          <p:cNvPr id="42" name="Text 39"/>
          <p:cNvSpPr/>
          <p:nvPr/>
        </p:nvSpPr>
        <p:spPr>
          <a:xfrm>
            <a:off x="7333488" y="4425696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fundraise initiated</a:t>
            </a:r>
            <a:endParaRPr lang="en-US" sz="820" dirty="0"/>
          </a:p>
        </p:txBody>
      </p:sp>
      <p:sp>
        <p:nvSpPr>
          <p:cNvPr id="43" name="Text 40"/>
          <p:cNvSpPr/>
          <p:nvPr/>
        </p:nvSpPr>
        <p:spPr>
          <a:xfrm>
            <a:off x="411480" y="6473952"/>
            <a:ext cx="9509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Founder-provided financing terms and use-of-funds plan.</a:t>
            </a:r>
            <a:endParaRPr lang="en-US" sz="5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F">
              <a:alpha val="0"/>
            </a:srgbClr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pic>
        <p:nvPicPr>
          <p:cNvPr id="4" name="Image 0" descr="E:\CodeX Developemt\Flowfiy codex\flowfi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6888"/>
            <a:ext cx="113385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" y="758952"/>
            <a:ext cx="219456" cy="320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6812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228832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01384" y="804672"/>
            <a:ext cx="4873752" cy="3227832"/>
          </a:xfrm>
          <a:prstGeom prst="roundRect">
            <a:avLst>
              <a:gd name="adj" fmla="val 2833"/>
            </a:avLst>
          </a:prstGeom>
          <a:solidFill>
            <a:srgbClr val="101018"/>
          </a:solidFill>
          <a:ln w="9525">
            <a:solidFill>
              <a:srgbClr val="2F2642"/>
            </a:solidFill>
            <a:prstDash val="solid"/>
          </a:ln>
          <a:effectLst>
            <a:outerShdw blurRad="25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E:\CodeX Developemt\AI_Sales_outbound_system\screenshots\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841248"/>
            <a:ext cx="4800600" cy="31546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37960" y="841248"/>
            <a:ext cx="4800600" cy="3154680"/>
          </a:xfrm>
          <a:prstGeom prst="rect">
            <a:avLst/>
          </a:prstGeom>
          <a:solidFill>
            <a:srgbClr val="09090F">
              <a:alpha val="92000"/>
            </a:srgbClr>
          </a:solidFill>
          <a:ln w="12700">
            <a:solidFill>
              <a:srgbClr val="09090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38912" y="987552"/>
            <a:ext cx="5669280" cy="265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future of outbound together.</a:t>
            </a:r>
            <a:endParaRPr lang="en-US" sz="100" dirty="0"/>
          </a:p>
        </p:txBody>
      </p:sp>
      <p:sp>
        <p:nvSpPr>
          <p:cNvPr id="12" name="Text 8"/>
          <p:cNvSpPr/>
          <p:nvPr/>
        </p:nvSpPr>
        <p:spPr>
          <a:xfrm>
            <a:off x="475488" y="1920240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the outbound infrastructure layer for every AI-native sales team globally.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30352" y="2743200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11111A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" y="2880360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</a:t>
            </a:r>
            <a:endParaRPr lang="en-US" sz="720" dirty="0"/>
          </a:p>
        </p:txBody>
      </p:sp>
      <p:sp>
        <p:nvSpPr>
          <p:cNvPr id="15" name="Text 11"/>
          <p:cNvSpPr/>
          <p:nvPr/>
        </p:nvSpPr>
        <p:spPr>
          <a:xfrm>
            <a:off x="685800" y="3090672"/>
            <a:ext cx="1051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$300,000</a:t>
            </a:r>
            <a:endParaRPr lang="en-US" sz="1020" dirty="0"/>
          </a:p>
        </p:txBody>
      </p:sp>
      <p:sp>
        <p:nvSpPr>
          <p:cNvPr id="16" name="Shape 12"/>
          <p:cNvSpPr/>
          <p:nvPr/>
        </p:nvSpPr>
        <p:spPr>
          <a:xfrm>
            <a:off x="2450592" y="2743200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11111A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06040" y="2880360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</a:t>
            </a:r>
            <a:endParaRPr lang="en-US" sz="720" dirty="0"/>
          </a:p>
        </p:txBody>
      </p:sp>
      <p:sp>
        <p:nvSpPr>
          <p:cNvPr id="18" name="Text 14"/>
          <p:cNvSpPr/>
          <p:nvPr/>
        </p:nvSpPr>
        <p:spPr>
          <a:xfrm>
            <a:off x="2606040" y="3090672"/>
            <a:ext cx="1051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Note</a:t>
            </a:r>
            <a:endParaRPr lang="en-US" sz="1020" dirty="0"/>
          </a:p>
        </p:txBody>
      </p:sp>
      <p:sp>
        <p:nvSpPr>
          <p:cNvPr id="19" name="Shape 15"/>
          <p:cNvSpPr/>
          <p:nvPr/>
        </p:nvSpPr>
        <p:spPr>
          <a:xfrm>
            <a:off x="530352" y="3611880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11111A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5800" y="3749040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</a:t>
            </a:r>
            <a:endParaRPr lang="en-US" sz="720" dirty="0"/>
          </a:p>
        </p:txBody>
      </p:sp>
      <p:sp>
        <p:nvSpPr>
          <p:cNvPr id="21" name="Text 17"/>
          <p:cNvSpPr/>
          <p:nvPr/>
        </p:nvSpPr>
        <p:spPr>
          <a:xfrm>
            <a:off x="685800" y="3959352"/>
            <a:ext cx="1051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$3,000,000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2450592" y="3611880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11111A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606040" y="3749040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</a:t>
            </a:r>
            <a:endParaRPr lang="en-US" sz="720" dirty="0"/>
          </a:p>
        </p:txBody>
      </p:sp>
      <p:sp>
        <p:nvSpPr>
          <p:cNvPr id="24" name="Text 20"/>
          <p:cNvSpPr/>
          <p:nvPr/>
        </p:nvSpPr>
        <p:spPr>
          <a:xfrm>
            <a:off x="2606040" y="3959352"/>
            <a:ext cx="1051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20" dirty="0"/>
          </a:p>
        </p:txBody>
      </p:sp>
      <p:sp>
        <p:nvSpPr>
          <p:cNvPr id="25" name="Shape 21"/>
          <p:cNvSpPr/>
          <p:nvPr/>
        </p:nvSpPr>
        <p:spPr>
          <a:xfrm>
            <a:off x="6537960" y="434340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120F1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858000" y="4608576"/>
            <a:ext cx="1554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Saha</a:t>
            </a:r>
            <a:endParaRPr lang="en-US" sz="1280" dirty="0"/>
          </a:p>
        </p:txBody>
      </p:sp>
      <p:sp>
        <p:nvSpPr>
          <p:cNvPr id="27" name="Text 23"/>
          <p:cNvSpPr/>
          <p:nvPr/>
        </p:nvSpPr>
        <p:spPr>
          <a:xfrm>
            <a:off x="6858000" y="4901184"/>
            <a:ext cx="2377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Flowfiy · Pune, India</a:t>
            </a:r>
            <a:endParaRPr lang="en-US" sz="880" dirty="0"/>
          </a:p>
        </p:txBody>
      </p:sp>
      <p:sp>
        <p:nvSpPr>
          <p:cNvPr id="28" name="Text 24"/>
          <p:cNvSpPr/>
          <p:nvPr/>
        </p:nvSpPr>
        <p:spPr>
          <a:xfrm>
            <a:off x="9326880" y="4608576"/>
            <a:ext cx="1691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15-min demo: flowfiy.com</a:t>
            </a:r>
            <a:endParaRPr lang="en-US" sz="860" dirty="0"/>
          </a:p>
        </p:txBody>
      </p:sp>
      <p:sp>
        <p:nvSpPr>
          <p:cNvPr id="29" name="Text 25"/>
          <p:cNvSpPr/>
          <p:nvPr/>
        </p:nvSpPr>
        <p:spPr>
          <a:xfrm>
            <a:off x="9326880" y="4901184"/>
            <a:ext cx="1691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hello@flowfiy.com</a:t>
            </a:r>
            <a:endParaRPr lang="en-US" sz="860" dirty="0"/>
          </a:p>
        </p:txBody>
      </p:sp>
      <p:sp>
        <p:nvSpPr>
          <p:cNvPr id="30" name="Shape 26"/>
          <p:cNvSpPr/>
          <p:nvPr/>
        </p:nvSpPr>
        <p:spPr>
          <a:xfrm>
            <a:off x="502920" y="4983480"/>
            <a:ext cx="4297680" cy="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31" name="Text 27"/>
          <p:cNvSpPr/>
          <p:nvPr/>
        </p:nvSpPr>
        <p:spPr>
          <a:xfrm>
            <a:off x="502920" y="5257800"/>
            <a:ext cx="1005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</a:t>
            </a:r>
            <a:endParaRPr lang="en-US" sz="870" dirty="0"/>
          </a:p>
        </p:txBody>
      </p:sp>
      <p:sp>
        <p:nvSpPr>
          <p:cNvPr id="32" name="Text 28"/>
          <p:cNvSpPr/>
          <p:nvPr/>
        </p:nvSpPr>
        <p:spPr>
          <a:xfrm>
            <a:off x="1536192" y="5230368"/>
            <a:ext cx="3657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$4.12B AI SDR market is growing at 29.5% annually - Flowfiy enters as teams search for cheaper, more complete automation.</a:t>
            </a:r>
            <a:endParaRPr lang="en-US" sz="860" dirty="0"/>
          </a:p>
        </p:txBody>
      </p:sp>
      <p:sp>
        <p:nvSpPr>
          <p:cNvPr id="33" name="Text 29"/>
          <p:cNvSpPr/>
          <p:nvPr/>
        </p:nvSpPr>
        <p:spPr>
          <a:xfrm>
            <a:off x="411480" y="6473952"/>
            <a:ext cx="9509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MarketsandMarkets AI SDR Market; founder-provided financing terms.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1052</Words>
  <Application>Microsoft Office PowerPoint</Application>
  <PresentationFormat>Custom</PresentationFormat>
  <Paragraphs>222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Flowfiy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Flowfiy Investor Pitch Deck</dc:title>
  <dc:subject>Flowfiy Investor Pitch Deck</dc:subject>
  <dc:creator>Flowfiy</dc:creator>
  <cp:lastModifiedBy>ADMIN</cp:lastModifiedBy>
  <cp:revision>3</cp:revision>
  <dcterms:created xsi:type="dcterms:W3CDTF">2026-05-18T22:29:57Z</dcterms:created>
  <dcterms:modified xsi:type="dcterms:W3CDTF">2026-05-19T00:01:47Z</dcterms:modified>
</cp:coreProperties>
</file>