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1A56DB">
              <a:alpha val="12000"/>
            </a:srgbClr>
          </a:solidFill>
          <a:ln w="6350">
            <a:solidFill>
              <a:srgbClr val="1A56DB">
                <a:alpha val="30000"/>
              </a:srgbClr>
            </a:solidFill>
            <a:prstDash val="solid"/>
          </a:ln>
        </p:spPr>
      </p:sp>
      <p:sp>
        <p:nvSpPr>
          <p:cNvPr id="3" name="Shape 1"/>
          <p:cNvSpPr/>
          <p:nvPr/>
        </p:nvSpPr>
        <p:spPr>
          <a:xfrm>
            <a:off x="6858000" y="457200"/>
            <a:ext cx="3200400" cy="3200400"/>
          </a:xfrm>
          <a:prstGeom prst="ellipse">
            <a:avLst/>
          </a:prstGeom>
          <a:solidFill>
            <a:srgbClr val="0EA5E9">
              <a:alpha val="10000"/>
            </a:srgbClr>
          </a:solidFill>
          <a:ln w="6350">
            <a:solidFill>
              <a:srgbClr val="0EA5E9">
                <a:alpha val="20000"/>
              </a:srgbClr>
            </a:solidFill>
            <a:prstDash val="solid"/>
          </a:ln>
        </p:spPr>
      </p:sp>
      <p:sp>
        <p:nvSpPr>
          <p:cNvPr id="4" name="Shape 2"/>
          <p:cNvSpPr/>
          <p:nvPr/>
        </p:nvSpPr>
        <p:spPr>
          <a:xfrm>
            <a:off x="548640" y="502920"/>
            <a:ext cx="1280160" cy="384048"/>
          </a:xfrm>
          <a:prstGeom prst="roundRect">
            <a:avLst>
              <a:gd name="adj" fmla="val 19048"/>
            </a:avLst>
          </a:prstGeom>
          <a:solidFill>
            <a:srgbClr val="1A56DB"/>
          </a:solidFill>
          <a:ln/>
        </p:spPr>
      </p:sp>
      <p:sp>
        <p:nvSpPr>
          <p:cNvPr id="5" name="Text 3"/>
          <p:cNvSpPr/>
          <p:nvPr/>
        </p:nvSpPr>
        <p:spPr>
          <a:xfrm>
            <a:off x="548640" y="502920"/>
            <a:ext cx="1280160" cy="384048"/>
          </a:xfrm>
          <a:prstGeom prst="rect">
            <a:avLst/>
          </a:prstGeom>
          <a:noFill/>
          <a:ln/>
        </p:spPr>
        <p:txBody>
          <a:bodyPr wrap="square" lIns="0" tIns="0" rIns="0" bIns="0" rtlCol="0" anchor="ctr"/>
          <a:lstStyle/>
          <a:p>
            <a:pPr algn="ctr" indent="0" marL="0">
              <a:buNone/>
            </a:pPr>
            <a:r>
              <a:rPr lang="en-US" sz="1100" b="1" dirty="0">
                <a:solidFill>
                  <a:srgbClr val="FFFFFF"/>
                </a:solidFill>
              </a:rPr>
              <a:t>FLOWFIY</a:t>
            </a:r>
            <a:endParaRPr lang="en-US" sz="1100" dirty="0"/>
          </a:p>
        </p:txBody>
      </p:sp>
      <p:sp>
        <p:nvSpPr>
          <p:cNvPr id="6" name="Text 4"/>
          <p:cNvSpPr/>
          <p:nvPr/>
        </p:nvSpPr>
        <p:spPr>
          <a:xfrm>
            <a:off x="548640" y="1280160"/>
            <a:ext cx="7315200" cy="109728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How Flowfiy Works</a:t>
            </a:r>
            <a:endParaRPr lang="en-US" sz="4800" dirty="0"/>
          </a:p>
        </p:txBody>
      </p:sp>
      <p:sp>
        <p:nvSpPr>
          <p:cNvPr id="7" name="Text 5"/>
          <p:cNvSpPr/>
          <p:nvPr/>
        </p:nvSpPr>
        <p:spPr>
          <a:xfrm>
            <a:off x="548640" y="2468880"/>
            <a:ext cx="6858000" cy="8229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 plain-language walkthrough of the technology</a:t>
            </a:r>
            <a:endParaRPr lang="en-US" sz="1600" dirty="0"/>
          </a:p>
          <a:p>
            <a:pPr indent="0" marL="0">
              <a:buNone/>
            </a:pPr>
            <a:r>
              <a:rPr lang="en-US" sz="1600" dirty="0">
                <a:solidFill>
                  <a:srgbClr val="94A3B8"/>
                </a:solidFill>
                <a:latin typeface="Calibri" pitchFamily="34" charset="0"/>
                <a:ea typeface="Calibri" pitchFamily="34" charset="-122"/>
                <a:cs typeface="Calibri" pitchFamily="34" charset="-120"/>
              </a:rPr>
              <a:t>built for investors and partners</a:t>
            </a:r>
            <a:endParaRPr lang="en-US" sz="1600" dirty="0"/>
          </a:p>
        </p:txBody>
      </p:sp>
      <p:sp>
        <p:nvSpPr>
          <p:cNvPr id="8" name="Shape 6"/>
          <p:cNvSpPr/>
          <p:nvPr/>
        </p:nvSpPr>
        <p:spPr>
          <a:xfrm>
            <a:off x="548640" y="3429000"/>
            <a:ext cx="3200400" cy="0"/>
          </a:xfrm>
          <a:prstGeom prst="line">
            <a:avLst/>
          </a:prstGeom>
          <a:noFill/>
          <a:ln w="25400">
            <a:solidFill>
              <a:srgbClr val="1A56DB"/>
            </a:solidFill>
            <a:prstDash val="solid"/>
          </a:ln>
        </p:spPr>
      </p:sp>
      <p:sp>
        <p:nvSpPr>
          <p:cNvPr id="9" name="Text 7"/>
          <p:cNvSpPr/>
          <p:nvPr/>
        </p:nvSpPr>
        <p:spPr>
          <a:xfrm>
            <a:off x="548640" y="3749040"/>
            <a:ext cx="7315200" cy="457200"/>
          </a:xfrm>
          <a:prstGeom prst="rect">
            <a:avLst/>
          </a:prstGeom>
          <a:noFill/>
          <a:ln/>
        </p:spPr>
        <p:txBody>
          <a:bodyPr wrap="square" rtlCol="0" anchor="ctr"/>
          <a:lstStyle/>
          <a:p>
            <a:pPr indent="0" marL="0">
              <a:buNone/>
            </a:pPr>
            <a:r>
              <a:rPr lang="en-US" sz="1300" i="1" dirty="0">
                <a:solidFill>
                  <a:srgbClr val="93C5FD"/>
                </a:solidFill>
              </a:rPr>
              <a:t>AI-powered outbound sales — fully automated, founder-friendly</a:t>
            </a:r>
            <a:endParaRPr lang="en-US" sz="1300" dirty="0"/>
          </a:p>
        </p:txBody>
      </p:sp>
      <p:sp>
        <p:nvSpPr>
          <p:cNvPr id="10" name="Text 8"/>
          <p:cNvSpPr/>
          <p:nvPr/>
        </p:nvSpPr>
        <p:spPr>
          <a:xfrm>
            <a:off x="6400800" y="4754880"/>
            <a:ext cx="2560320" cy="274320"/>
          </a:xfrm>
          <a:prstGeom prst="rect">
            <a:avLst/>
          </a:prstGeom>
          <a:noFill/>
          <a:ln/>
        </p:spPr>
        <p:txBody>
          <a:bodyPr wrap="square" rtlCol="0" anchor="ctr"/>
          <a:lstStyle/>
          <a:p>
            <a:pPr algn="r" indent="0" marL="0">
              <a:buNone/>
            </a:pPr>
            <a:r>
              <a:rPr lang="en-US" sz="900" dirty="0">
                <a:solidFill>
                  <a:srgbClr val="94A3B8"/>
                </a:solidFill>
              </a:rPr>
              <a:t>flowfiy.com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A0F1E"/>
          </a:solidFill>
          <a:ln/>
        </p:spPr>
      </p:sp>
      <p:sp>
        <p:nvSpPr>
          <p:cNvPr id="3" name="Text 1"/>
          <p:cNvSpPr/>
          <p:nvPr/>
        </p:nvSpPr>
        <p:spPr>
          <a:xfrm>
            <a:off x="457200" y="0"/>
            <a:ext cx="8229600" cy="502920"/>
          </a:xfrm>
          <a:prstGeom prst="rect">
            <a:avLst/>
          </a:prstGeom>
          <a:noFill/>
          <a:ln/>
        </p:spPr>
        <p:txBody>
          <a:bodyPr wrap="square" rtlCol="0" anchor="ctr"/>
          <a:lstStyle/>
          <a:p>
            <a:pPr indent="0" marL="0">
              <a:buNone/>
            </a:pPr>
            <a:r>
              <a:rPr lang="en-US" sz="1100" b="1" spc="300" kern="0" dirty="0">
                <a:solidFill>
                  <a:srgbClr val="93C5FD"/>
                </a:solidFill>
              </a:rPr>
              <a:t>THE BIG PICTURE</a:t>
            </a:r>
            <a:endParaRPr lang="en-US" sz="1100" dirty="0"/>
          </a:p>
        </p:txBody>
      </p:sp>
      <p:sp>
        <p:nvSpPr>
          <p:cNvPr id="4" name="Text 2"/>
          <p:cNvSpPr/>
          <p:nvPr/>
        </p:nvSpPr>
        <p:spPr>
          <a:xfrm>
            <a:off x="457200" y="685800"/>
            <a:ext cx="8229600" cy="1005840"/>
          </a:xfrm>
          <a:prstGeom prst="rect">
            <a:avLst/>
          </a:prstGeom>
          <a:noFill/>
          <a:ln/>
        </p:spPr>
        <p:txBody>
          <a:bodyPr wrap="square"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Flowfiy turns a business description</a:t>
            </a:r>
            <a:endParaRPr lang="en-US" sz="2800" dirty="0"/>
          </a:p>
          <a:p>
            <a:pPr indent="0" marL="0">
              <a:buNone/>
            </a:pPr>
            <a:r>
              <a:rPr lang="en-US" sz="2800" b="1" dirty="0">
                <a:solidFill>
                  <a:srgbClr val="1E293B"/>
                </a:solidFill>
                <a:latin typeface="Calibri" pitchFamily="34" charset="0"/>
                <a:ea typeface="Calibri" pitchFamily="34" charset="-122"/>
                <a:cs typeface="Calibri" pitchFamily="34" charset="-120"/>
              </a:rPr>
              <a:t>into a ready-to-send lead list</a:t>
            </a:r>
            <a:endParaRPr lang="en-US" sz="2800" dirty="0"/>
          </a:p>
        </p:txBody>
      </p:sp>
      <p:sp>
        <p:nvSpPr>
          <p:cNvPr id="5" name="Shape 3"/>
          <p:cNvSpPr/>
          <p:nvPr/>
        </p:nvSpPr>
        <p:spPr>
          <a:xfrm>
            <a:off x="411480" y="1783080"/>
            <a:ext cx="3200400" cy="2560320"/>
          </a:xfrm>
          <a:prstGeom prst="rect">
            <a:avLst/>
          </a:prstGeom>
          <a:solidFill>
            <a:srgbClr val="FEF2F2"/>
          </a:solidFill>
          <a:ln w="12700">
            <a:solidFill>
              <a:srgbClr val="FECACA"/>
            </a:solidFill>
            <a:prstDash val="solid"/>
          </a:ln>
        </p:spPr>
      </p:sp>
      <p:sp>
        <p:nvSpPr>
          <p:cNvPr id="6" name="Text 4"/>
          <p:cNvSpPr/>
          <p:nvPr/>
        </p:nvSpPr>
        <p:spPr>
          <a:xfrm>
            <a:off x="502920" y="1947672"/>
            <a:ext cx="3017520" cy="365760"/>
          </a:xfrm>
          <a:prstGeom prst="rect">
            <a:avLst/>
          </a:prstGeom>
          <a:noFill/>
          <a:ln/>
        </p:spPr>
        <p:txBody>
          <a:bodyPr wrap="square" rtlCol="0" anchor="ctr"/>
          <a:lstStyle/>
          <a:p>
            <a:pPr indent="0" marL="0">
              <a:buNone/>
            </a:pPr>
            <a:r>
              <a:rPr lang="en-US" sz="1300" b="1" dirty="0">
                <a:solidFill>
                  <a:srgbClr val="DC2626"/>
                </a:solidFill>
              </a:rPr>
              <a:t>Before Flowfiy</a:t>
            </a:r>
            <a:endParaRPr lang="en-US" sz="1300" dirty="0"/>
          </a:p>
        </p:txBody>
      </p:sp>
      <p:sp>
        <p:nvSpPr>
          <p:cNvPr id="7" name="Text 5"/>
          <p:cNvSpPr/>
          <p:nvPr/>
        </p:nvSpPr>
        <p:spPr>
          <a:xfrm>
            <a:off x="502920" y="2377440"/>
            <a:ext cx="3017520" cy="1828800"/>
          </a:xfrm>
          <a:prstGeom prst="rect">
            <a:avLst/>
          </a:prstGeom>
          <a:noFill/>
          <a:ln/>
        </p:spPr>
        <p:txBody>
          <a:bodyPr wrap="square" rtlCol="0" anchor="ctr"/>
          <a:lstStyle/>
          <a:p>
            <a:pPr marL="342900" indent="-342900">
              <a:spcAft>
                <a:spcPts val="500"/>
              </a:spcAft>
              <a:buSzPct val="100000"/>
              <a:buChar char="•"/>
            </a:pPr>
            <a:r>
              <a:rPr lang="en-US" sz="1200" dirty="0">
                <a:solidFill>
                  <a:srgbClr val="7F1D1D"/>
                </a:solidFill>
              </a:rPr>
              <a:t>Hours spent searching LinkedIn &amp; Apollo</a:t>
            </a:r>
            <a:endParaRPr lang="en-US" sz="1200" dirty="0"/>
          </a:p>
          <a:p>
            <a:pPr marL="342900" indent="-342900">
              <a:spcAft>
                <a:spcPts val="500"/>
              </a:spcAft>
              <a:buSzPct val="100000"/>
              <a:buChar char="•"/>
            </a:pPr>
            <a:r>
              <a:rPr lang="en-US" sz="1200" dirty="0">
                <a:solidFill>
                  <a:srgbClr val="7F1D1D"/>
                </a:solidFill>
              </a:rPr>
              <a:t>Copy-paste company info by hand</a:t>
            </a:r>
            <a:endParaRPr lang="en-US" sz="1200" dirty="0"/>
          </a:p>
          <a:p>
            <a:pPr marL="342900" indent="-342900">
              <a:spcAft>
                <a:spcPts val="500"/>
              </a:spcAft>
              <a:buSzPct val="100000"/>
              <a:buChar char="•"/>
            </a:pPr>
            <a:r>
              <a:rPr lang="en-US" sz="1200" dirty="0">
                <a:solidFill>
                  <a:srgbClr val="7F1D1D"/>
                </a:solidFill>
              </a:rPr>
              <a:t>Generic emails sent to everyone</a:t>
            </a:r>
            <a:endParaRPr lang="en-US" sz="1200" dirty="0"/>
          </a:p>
          <a:p>
            <a:pPr marL="342900" indent="-342900">
              <a:spcAft>
                <a:spcPts val="500"/>
              </a:spcAft>
              <a:buSzPct val="100000"/>
              <a:buChar char="•"/>
            </a:pPr>
            <a:r>
              <a:rPr lang="en-US" sz="1200" dirty="0">
                <a:solidFill>
                  <a:srgbClr val="7F1D1D"/>
                </a:solidFill>
              </a:rPr>
              <a:t>No way to know which lead is worth chasing</a:t>
            </a:r>
            <a:endParaRPr lang="en-US" sz="1200" dirty="0"/>
          </a:p>
          <a:p>
            <a:pPr marL="342900" indent="-342900">
              <a:spcAft>
                <a:spcPts val="500"/>
              </a:spcAft>
              <a:buSzPct val="100000"/>
              <a:buChar char="•"/>
            </a:pPr>
            <a:r>
              <a:rPr lang="en-US" sz="1200" dirty="0">
                <a:solidFill>
                  <a:srgbClr val="7F1D1D"/>
                </a:solidFill>
              </a:rPr>
              <a:t>Paying $600-1,400/mo across 3 tools</a:t>
            </a:r>
            <a:endParaRPr lang="en-US" sz="1200" dirty="0"/>
          </a:p>
        </p:txBody>
      </p:sp>
      <p:sp>
        <p:nvSpPr>
          <p:cNvPr id="8" name="Shape 6"/>
          <p:cNvSpPr/>
          <p:nvPr/>
        </p:nvSpPr>
        <p:spPr>
          <a:xfrm>
            <a:off x="3794760" y="3063240"/>
            <a:ext cx="1554480" cy="0"/>
          </a:xfrm>
          <a:prstGeom prst="line">
            <a:avLst/>
          </a:prstGeom>
          <a:noFill/>
          <a:ln w="31750">
            <a:solidFill>
              <a:srgbClr val="1A56DB"/>
            </a:solidFill>
            <a:prstDash val="solid"/>
          </a:ln>
        </p:spPr>
      </p:sp>
      <p:sp>
        <p:nvSpPr>
          <p:cNvPr id="9" name="Text 7"/>
          <p:cNvSpPr/>
          <p:nvPr/>
        </p:nvSpPr>
        <p:spPr>
          <a:xfrm>
            <a:off x="4160520" y="2834640"/>
            <a:ext cx="822960" cy="457200"/>
          </a:xfrm>
          <a:prstGeom prst="rect">
            <a:avLst/>
          </a:prstGeom>
          <a:noFill/>
          <a:ln/>
        </p:spPr>
        <p:txBody>
          <a:bodyPr wrap="square" rtlCol="0" anchor="ctr"/>
          <a:lstStyle/>
          <a:p>
            <a:pPr algn="ctr" indent="0" marL="0">
              <a:buNone/>
            </a:pPr>
            <a:r>
              <a:rPr lang="en-US" sz="2200" b="1" dirty="0">
                <a:solidFill>
                  <a:srgbClr val="1A56DB"/>
                </a:solidFill>
              </a:rPr>
              <a:t>→</a:t>
            </a:r>
            <a:endParaRPr lang="en-US" sz="2200" dirty="0"/>
          </a:p>
        </p:txBody>
      </p:sp>
      <p:sp>
        <p:nvSpPr>
          <p:cNvPr id="10" name="Text 8"/>
          <p:cNvSpPr/>
          <p:nvPr/>
        </p:nvSpPr>
        <p:spPr>
          <a:xfrm>
            <a:off x="3931920" y="3200400"/>
            <a:ext cx="1280160" cy="320040"/>
          </a:xfrm>
          <a:prstGeom prst="rect">
            <a:avLst/>
          </a:prstGeom>
          <a:noFill/>
          <a:ln/>
        </p:spPr>
        <p:txBody>
          <a:bodyPr wrap="square" rtlCol="0" anchor="ctr"/>
          <a:lstStyle/>
          <a:p>
            <a:pPr algn="ctr" indent="0" marL="0">
              <a:buNone/>
            </a:pPr>
            <a:r>
              <a:rPr lang="en-US" sz="1100" b="1" dirty="0">
                <a:solidFill>
                  <a:srgbClr val="1A56DB"/>
                </a:solidFill>
              </a:rPr>
              <a:t>Flowfiy</a:t>
            </a:r>
            <a:endParaRPr lang="en-US" sz="1100" dirty="0"/>
          </a:p>
        </p:txBody>
      </p:sp>
      <p:sp>
        <p:nvSpPr>
          <p:cNvPr id="11" name="Shape 9"/>
          <p:cNvSpPr/>
          <p:nvPr/>
        </p:nvSpPr>
        <p:spPr>
          <a:xfrm>
            <a:off x="5440680" y="1783080"/>
            <a:ext cx="3246120" cy="2560320"/>
          </a:xfrm>
          <a:prstGeom prst="rect">
            <a:avLst/>
          </a:prstGeom>
          <a:solidFill>
            <a:srgbClr val="F0FDF4"/>
          </a:solidFill>
          <a:ln w="12700">
            <a:solidFill>
              <a:srgbClr val="86EFAC"/>
            </a:solidFill>
            <a:prstDash val="solid"/>
          </a:ln>
        </p:spPr>
      </p:sp>
      <p:sp>
        <p:nvSpPr>
          <p:cNvPr id="12" name="Text 10"/>
          <p:cNvSpPr/>
          <p:nvPr/>
        </p:nvSpPr>
        <p:spPr>
          <a:xfrm>
            <a:off x="5532120" y="1947672"/>
            <a:ext cx="3017520" cy="365760"/>
          </a:xfrm>
          <a:prstGeom prst="rect">
            <a:avLst/>
          </a:prstGeom>
          <a:noFill/>
          <a:ln/>
        </p:spPr>
        <p:txBody>
          <a:bodyPr wrap="square" rtlCol="0" anchor="ctr"/>
          <a:lstStyle/>
          <a:p>
            <a:pPr indent="0" marL="0">
              <a:buNone/>
            </a:pPr>
            <a:r>
              <a:rPr lang="en-US" sz="1300" b="1" dirty="0">
                <a:solidFill>
                  <a:srgbClr val="166534"/>
                </a:solidFill>
              </a:rPr>
              <a:t>After Flowfiy</a:t>
            </a:r>
            <a:endParaRPr lang="en-US" sz="1300" dirty="0"/>
          </a:p>
        </p:txBody>
      </p:sp>
      <p:sp>
        <p:nvSpPr>
          <p:cNvPr id="13" name="Text 11"/>
          <p:cNvSpPr/>
          <p:nvPr/>
        </p:nvSpPr>
        <p:spPr>
          <a:xfrm>
            <a:off x="5532120" y="2377440"/>
            <a:ext cx="3017520" cy="1828800"/>
          </a:xfrm>
          <a:prstGeom prst="rect">
            <a:avLst/>
          </a:prstGeom>
          <a:noFill/>
          <a:ln/>
        </p:spPr>
        <p:txBody>
          <a:bodyPr wrap="square" rtlCol="0" anchor="ctr"/>
          <a:lstStyle/>
          <a:p>
            <a:pPr marL="342900" indent="-342900">
              <a:spcAft>
                <a:spcPts val="500"/>
              </a:spcAft>
              <a:buSzPct val="100000"/>
              <a:buChar char="•"/>
            </a:pPr>
            <a:r>
              <a:rPr lang="en-US" sz="1200" dirty="0">
                <a:solidFill>
                  <a:srgbClr val="14532D"/>
                </a:solidFill>
              </a:rPr>
              <a:t>Full lead list generated in minutes</a:t>
            </a:r>
            <a:endParaRPr lang="en-US" sz="1200" dirty="0"/>
          </a:p>
          <a:p>
            <a:pPr marL="342900" indent="-342900">
              <a:spcAft>
                <a:spcPts val="500"/>
              </a:spcAft>
              <a:buSzPct val="100000"/>
              <a:buChar char="•"/>
            </a:pPr>
            <a:r>
              <a:rPr lang="en-US" sz="1200" dirty="0">
                <a:solidFill>
                  <a:srgbClr val="14532D"/>
                </a:solidFill>
              </a:rPr>
              <a:t>Every company website researched</a:t>
            </a:r>
            <a:endParaRPr lang="en-US" sz="1200" dirty="0"/>
          </a:p>
          <a:p>
            <a:pPr marL="342900" indent="-342900">
              <a:spcAft>
                <a:spcPts val="500"/>
              </a:spcAft>
              <a:buSzPct val="100000"/>
              <a:buChar char="•"/>
            </a:pPr>
            <a:r>
              <a:rPr lang="en-US" sz="1200" dirty="0">
                <a:solidFill>
                  <a:srgbClr val="14532D"/>
                </a:solidFill>
              </a:rPr>
              <a:t>Personalised email written per lead</a:t>
            </a:r>
            <a:endParaRPr lang="en-US" sz="1200" dirty="0"/>
          </a:p>
          <a:p>
            <a:pPr marL="342900" indent="-342900">
              <a:spcAft>
                <a:spcPts val="500"/>
              </a:spcAft>
              <a:buSzPct val="100000"/>
              <a:buChar char="•"/>
            </a:pPr>
            <a:r>
              <a:rPr lang="en-US" sz="1200" dirty="0">
                <a:solidFill>
                  <a:srgbClr val="14532D"/>
                </a:solidFill>
              </a:rPr>
              <a:t>Every lead scored 0–100 for fit</a:t>
            </a:r>
            <a:endParaRPr lang="en-US" sz="1200" dirty="0"/>
          </a:p>
          <a:p>
            <a:pPr marL="342900" indent="-342900">
              <a:spcAft>
                <a:spcPts val="500"/>
              </a:spcAft>
              <a:buSzPct val="100000"/>
              <a:buChar char="•"/>
            </a:pPr>
            <a:r>
              <a:rPr lang="en-US" sz="1200" dirty="0">
                <a:solidFill>
                  <a:srgbClr val="14532D"/>
                </a:solidFill>
              </a:rPr>
              <a:t>One platform, from $49/month</a:t>
            </a:r>
            <a:endParaRPr lang="en-US" sz="1200" dirty="0"/>
          </a:p>
        </p:txBody>
      </p:sp>
      <p:sp>
        <p:nvSpPr>
          <p:cNvPr id="14" name="Text 12"/>
          <p:cNvSpPr/>
          <p:nvPr/>
        </p:nvSpPr>
        <p:spPr>
          <a:xfrm>
            <a:off x="6400800" y="4846320"/>
            <a:ext cx="2560320" cy="256032"/>
          </a:xfrm>
          <a:prstGeom prst="rect">
            <a:avLst/>
          </a:prstGeom>
          <a:noFill/>
          <a:ln/>
        </p:spPr>
        <p:txBody>
          <a:bodyPr wrap="square" rtlCol="0" anchor="ctr"/>
          <a:lstStyle/>
          <a:p>
            <a:pPr algn="r" indent="0" marL="0">
              <a:buNone/>
            </a:pPr>
            <a:r>
              <a:rPr lang="en-US" sz="900" dirty="0">
                <a:solidFill>
                  <a:srgbClr val="94A3B8"/>
                </a:solidFill>
              </a:rPr>
              <a:t>flowfiy.com  |  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p:spPr>
      </p:sp>
      <p:sp>
        <p:nvSpPr>
          <p:cNvPr id="3" name="Text 1"/>
          <p:cNvSpPr/>
          <p:nvPr/>
        </p:nvSpPr>
        <p:spPr>
          <a:xfrm>
            <a:off x="457200" y="0"/>
            <a:ext cx="8229600" cy="502920"/>
          </a:xfrm>
          <a:prstGeom prst="rect">
            <a:avLst/>
          </a:prstGeom>
          <a:noFill/>
          <a:ln/>
        </p:spPr>
        <p:txBody>
          <a:bodyPr wrap="square" rtlCol="0" anchor="ctr"/>
          <a:lstStyle/>
          <a:p>
            <a:pPr indent="0" marL="0">
              <a:buNone/>
            </a:pPr>
            <a:r>
              <a:rPr lang="en-US" sz="1100" b="1" spc="300" kern="0" dirty="0">
                <a:solidFill>
                  <a:srgbClr val="93C5FD"/>
                </a:solidFill>
              </a:rPr>
              <a:t>THE AI PIPELINE</a:t>
            </a:r>
            <a:endParaRPr lang="en-US" sz="1100" dirty="0"/>
          </a:p>
        </p:txBody>
      </p:sp>
      <p:sp>
        <p:nvSpPr>
          <p:cNvPr id="4" name="Text 2"/>
          <p:cNvSpPr/>
          <p:nvPr/>
        </p:nvSpPr>
        <p:spPr>
          <a:xfrm>
            <a:off x="457200" y="640080"/>
            <a:ext cx="8229600" cy="594360"/>
          </a:xfrm>
          <a:prstGeom prst="rect">
            <a:avLst/>
          </a:prstGeom>
          <a:noFill/>
          <a:ln/>
        </p:spPr>
        <p:txBody>
          <a:bodyPr wrap="square" rtlCol="0" anchor="ctr"/>
          <a:lstStyle/>
          <a:p>
            <a:pPr indent="0" marL="0">
              <a:buNone/>
            </a:pPr>
            <a:r>
              <a:rPr lang="en-US" sz="2600" b="1" dirty="0">
                <a:solidFill>
                  <a:srgbClr val="FFFFFF"/>
                </a:solidFill>
              </a:rPr>
              <a:t>5 AI agents working in sequence</a:t>
            </a:r>
            <a:endParaRPr lang="en-US" sz="26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300" dirty="0">
                <a:solidFill>
                  <a:srgbClr val="94A3B8"/>
                </a:solidFill>
              </a:rPr>
              <a:t>Each step hands its output to the next. Every lead gets the full treatment.</a:t>
            </a:r>
            <a:endParaRPr lang="en-US" sz="1300" dirty="0"/>
          </a:p>
        </p:txBody>
      </p:sp>
      <p:sp>
        <p:nvSpPr>
          <p:cNvPr id="6" name="Shape 4"/>
          <p:cNvSpPr/>
          <p:nvPr/>
        </p:nvSpPr>
        <p:spPr>
          <a:xfrm>
            <a:off x="411480" y="1691640"/>
            <a:ext cx="1572768" cy="2834640"/>
          </a:xfrm>
          <a:prstGeom prst="rect">
            <a:avLst/>
          </a:prstGeom>
          <a:solidFill>
            <a:srgbClr val="0D1B3E"/>
          </a:solidFill>
          <a:ln w="12700">
            <a:solidFill>
              <a:srgbClr val="1A56DB"/>
            </a:solidFill>
            <a:prstDash val="solid"/>
          </a:ln>
        </p:spPr>
      </p:sp>
      <p:sp>
        <p:nvSpPr>
          <p:cNvPr id="7" name="Shape 5"/>
          <p:cNvSpPr/>
          <p:nvPr/>
        </p:nvSpPr>
        <p:spPr>
          <a:xfrm>
            <a:off x="411480" y="1691640"/>
            <a:ext cx="1572768" cy="64008"/>
          </a:xfrm>
          <a:prstGeom prst="rect">
            <a:avLst/>
          </a:prstGeom>
          <a:solidFill>
            <a:srgbClr val="1A56DB"/>
          </a:solidFill>
          <a:ln/>
        </p:spPr>
      </p:sp>
      <p:sp>
        <p:nvSpPr>
          <p:cNvPr id="8" name="Text 6"/>
          <p:cNvSpPr/>
          <p:nvPr/>
        </p:nvSpPr>
        <p:spPr>
          <a:xfrm>
            <a:off x="502920" y="1874520"/>
            <a:ext cx="1371600" cy="365760"/>
          </a:xfrm>
          <a:prstGeom prst="rect">
            <a:avLst/>
          </a:prstGeom>
          <a:noFill/>
          <a:ln/>
        </p:spPr>
        <p:txBody>
          <a:bodyPr wrap="square" rtlCol="0" anchor="ctr"/>
          <a:lstStyle/>
          <a:p>
            <a:pPr indent="0" marL="0">
              <a:buNone/>
            </a:pPr>
            <a:r>
              <a:rPr lang="en-US" sz="2200" b="1" dirty="0">
                <a:solidFill>
                  <a:srgbClr val="1A56DB"/>
                </a:solidFill>
              </a:rPr>
              <a:t>01</a:t>
            </a:r>
            <a:endParaRPr lang="en-US" sz="2200" dirty="0"/>
          </a:p>
        </p:txBody>
      </p:sp>
      <p:sp>
        <p:nvSpPr>
          <p:cNvPr id="9" name="Text 7"/>
          <p:cNvSpPr/>
          <p:nvPr/>
        </p:nvSpPr>
        <p:spPr>
          <a:xfrm>
            <a:off x="502920" y="2240280"/>
            <a:ext cx="1371600" cy="640080"/>
          </a:xfrm>
          <a:prstGeom prst="rect">
            <a:avLst/>
          </a:prstGeom>
          <a:noFill/>
          <a:ln/>
        </p:spPr>
        <p:txBody>
          <a:bodyPr wrap="square" rtlCol="0" anchor="ctr"/>
          <a:lstStyle/>
          <a:p>
            <a:pPr indent="0" marL="0">
              <a:buNone/>
            </a:pPr>
            <a:r>
              <a:rPr lang="en-US" sz="1300" b="1" dirty="0">
                <a:solidFill>
                  <a:srgbClr val="FFFFFF"/>
                </a:solidFill>
              </a:rPr>
              <a:t>ICP</a:t>
            </a:r>
            <a:endParaRPr lang="en-US" sz="1300" dirty="0"/>
          </a:p>
          <a:p>
            <a:pPr indent="0" marL="0">
              <a:buNone/>
            </a:pPr>
            <a:r>
              <a:rPr lang="en-US" sz="1300" b="1" dirty="0">
                <a:solidFill>
                  <a:srgbClr val="FFFFFF"/>
                </a:solidFill>
              </a:rPr>
              <a:t>Analyzer</a:t>
            </a:r>
            <a:endParaRPr lang="en-US" sz="1300" dirty="0"/>
          </a:p>
        </p:txBody>
      </p:sp>
      <p:sp>
        <p:nvSpPr>
          <p:cNvPr id="10" name="Text 8"/>
          <p:cNvSpPr/>
          <p:nvPr/>
        </p:nvSpPr>
        <p:spPr>
          <a:xfrm>
            <a:off x="502920" y="2953512"/>
            <a:ext cx="1389888" cy="1005840"/>
          </a:xfrm>
          <a:prstGeom prst="rect">
            <a:avLst/>
          </a:prstGeom>
          <a:noFill/>
          <a:ln/>
        </p:spPr>
        <p:txBody>
          <a:bodyPr wrap="square" rtlCol="0" anchor="ctr"/>
          <a:lstStyle/>
          <a:p>
            <a:pPr indent="0" marL="0">
              <a:buNone/>
            </a:pPr>
            <a:r>
              <a:rPr lang="en-US" sz="1100" dirty="0">
                <a:solidFill>
                  <a:srgbClr val="94A3B8"/>
                </a:solidFill>
              </a:rPr>
              <a:t>Reads your business</a:t>
            </a:r>
            <a:endParaRPr lang="en-US" sz="1100" dirty="0"/>
          </a:p>
          <a:p>
            <a:pPr indent="0" marL="0">
              <a:buNone/>
            </a:pPr>
            <a:r>
              <a:rPr lang="en-US" sz="1100" dirty="0">
                <a:solidFill>
                  <a:srgbClr val="94A3B8"/>
                </a:solidFill>
              </a:rPr>
              <a:t>profile, figures out</a:t>
            </a:r>
            <a:endParaRPr lang="en-US" sz="1100" dirty="0"/>
          </a:p>
          <a:p>
            <a:pPr indent="0" marL="0">
              <a:buNone/>
            </a:pPr>
            <a:r>
              <a:rPr lang="en-US" sz="1100" dirty="0">
                <a:solidFill>
                  <a:srgbClr val="94A3B8"/>
                </a:solidFill>
              </a:rPr>
              <a:t>who to target</a:t>
            </a:r>
            <a:endParaRPr lang="en-US" sz="1100" dirty="0"/>
          </a:p>
        </p:txBody>
      </p:sp>
      <p:sp>
        <p:nvSpPr>
          <p:cNvPr id="11" name="Text 9"/>
          <p:cNvSpPr/>
          <p:nvPr/>
        </p:nvSpPr>
        <p:spPr>
          <a:xfrm>
            <a:off x="1965960" y="2926080"/>
            <a:ext cx="164592" cy="36576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12" name="Shape 10"/>
          <p:cNvSpPr/>
          <p:nvPr/>
        </p:nvSpPr>
        <p:spPr>
          <a:xfrm>
            <a:off x="2075688" y="1691640"/>
            <a:ext cx="1572768" cy="2834640"/>
          </a:xfrm>
          <a:prstGeom prst="rect">
            <a:avLst/>
          </a:prstGeom>
          <a:solidFill>
            <a:srgbClr val="0D1B3E"/>
          </a:solidFill>
          <a:ln w="12700">
            <a:solidFill>
              <a:srgbClr val="0EA5E9"/>
            </a:solidFill>
            <a:prstDash val="solid"/>
          </a:ln>
        </p:spPr>
      </p:sp>
      <p:sp>
        <p:nvSpPr>
          <p:cNvPr id="13" name="Shape 11"/>
          <p:cNvSpPr/>
          <p:nvPr/>
        </p:nvSpPr>
        <p:spPr>
          <a:xfrm>
            <a:off x="2075688" y="1691640"/>
            <a:ext cx="1572768" cy="64008"/>
          </a:xfrm>
          <a:prstGeom prst="rect">
            <a:avLst/>
          </a:prstGeom>
          <a:solidFill>
            <a:srgbClr val="0EA5E9"/>
          </a:solidFill>
          <a:ln/>
        </p:spPr>
      </p:sp>
      <p:sp>
        <p:nvSpPr>
          <p:cNvPr id="14" name="Text 12"/>
          <p:cNvSpPr/>
          <p:nvPr/>
        </p:nvSpPr>
        <p:spPr>
          <a:xfrm>
            <a:off x="2167128" y="1874520"/>
            <a:ext cx="1371600" cy="365760"/>
          </a:xfrm>
          <a:prstGeom prst="rect">
            <a:avLst/>
          </a:prstGeom>
          <a:noFill/>
          <a:ln/>
        </p:spPr>
        <p:txBody>
          <a:bodyPr wrap="square" rtlCol="0" anchor="ctr"/>
          <a:lstStyle/>
          <a:p>
            <a:pPr indent="0" marL="0">
              <a:buNone/>
            </a:pPr>
            <a:r>
              <a:rPr lang="en-US" sz="2200" b="1" dirty="0">
                <a:solidFill>
                  <a:srgbClr val="0EA5E9"/>
                </a:solidFill>
              </a:rPr>
              <a:t>02</a:t>
            </a:r>
            <a:endParaRPr lang="en-US" sz="2200" dirty="0"/>
          </a:p>
        </p:txBody>
      </p:sp>
      <p:sp>
        <p:nvSpPr>
          <p:cNvPr id="15" name="Text 13"/>
          <p:cNvSpPr/>
          <p:nvPr/>
        </p:nvSpPr>
        <p:spPr>
          <a:xfrm>
            <a:off x="2167128" y="2240280"/>
            <a:ext cx="1371600" cy="640080"/>
          </a:xfrm>
          <a:prstGeom prst="rect">
            <a:avLst/>
          </a:prstGeom>
          <a:noFill/>
          <a:ln/>
        </p:spPr>
        <p:txBody>
          <a:bodyPr wrap="square" rtlCol="0" anchor="ctr"/>
          <a:lstStyle/>
          <a:p>
            <a:pPr indent="0" marL="0">
              <a:buNone/>
            </a:pPr>
            <a:r>
              <a:rPr lang="en-US" sz="1300" b="1" dirty="0">
                <a:solidFill>
                  <a:srgbClr val="FFFFFF"/>
                </a:solidFill>
              </a:rPr>
              <a:t>Lead</a:t>
            </a:r>
            <a:endParaRPr lang="en-US" sz="1300" dirty="0"/>
          </a:p>
          <a:p>
            <a:pPr indent="0" marL="0">
              <a:buNone/>
            </a:pPr>
            <a:r>
              <a:rPr lang="en-US" sz="1300" b="1" dirty="0">
                <a:solidFill>
                  <a:srgbClr val="FFFFFF"/>
                </a:solidFill>
              </a:rPr>
              <a:t>Discovery</a:t>
            </a:r>
            <a:endParaRPr lang="en-US" sz="1300" dirty="0"/>
          </a:p>
        </p:txBody>
      </p:sp>
      <p:sp>
        <p:nvSpPr>
          <p:cNvPr id="16" name="Text 14"/>
          <p:cNvSpPr/>
          <p:nvPr/>
        </p:nvSpPr>
        <p:spPr>
          <a:xfrm>
            <a:off x="2167128" y="2953512"/>
            <a:ext cx="1389888" cy="1005840"/>
          </a:xfrm>
          <a:prstGeom prst="rect">
            <a:avLst/>
          </a:prstGeom>
          <a:noFill/>
          <a:ln/>
        </p:spPr>
        <p:txBody>
          <a:bodyPr wrap="square" rtlCol="0" anchor="ctr"/>
          <a:lstStyle/>
          <a:p>
            <a:pPr indent="0" marL="0">
              <a:buNone/>
            </a:pPr>
            <a:r>
              <a:rPr lang="en-US" sz="1100" dirty="0">
                <a:solidFill>
                  <a:srgbClr val="94A3B8"/>
                </a:solidFill>
              </a:rPr>
              <a:t>Searches Apollo's</a:t>
            </a:r>
            <a:endParaRPr lang="en-US" sz="1100" dirty="0"/>
          </a:p>
          <a:p>
            <a:pPr indent="0" marL="0">
              <a:buNone/>
            </a:pPr>
            <a:r>
              <a:rPr lang="en-US" sz="1100" dirty="0">
                <a:solidFill>
                  <a:srgbClr val="94A3B8"/>
                </a:solidFill>
              </a:rPr>
              <a:t>275M contact</a:t>
            </a:r>
            <a:endParaRPr lang="en-US" sz="1100" dirty="0"/>
          </a:p>
          <a:p>
            <a:pPr indent="0" marL="0">
              <a:buNone/>
            </a:pPr>
            <a:r>
              <a:rPr lang="en-US" sz="1100" dirty="0">
                <a:solidFill>
                  <a:srgbClr val="94A3B8"/>
                </a:solidFill>
              </a:rPr>
              <a:t>database</a:t>
            </a:r>
            <a:endParaRPr lang="en-US" sz="1100" dirty="0"/>
          </a:p>
        </p:txBody>
      </p:sp>
      <p:sp>
        <p:nvSpPr>
          <p:cNvPr id="17" name="Text 15"/>
          <p:cNvSpPr/>
          <p:nvPr/>
        </p:nvSpPr>
        <p:spPr>
          <a:xfrm>
            <a:off x="3630168" y="2926080"/>
            <a:ext cx="164592" cy="36576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18" name="Shape 16"/>
          <p:cNvSpPr/>
          <p:nvPr/>
        </p:nvSpPr>
        <p:spPr>
          <a:xfrm>
            <a:off x="3739896" y="1691640"/>
            <a:ext cx="1572768" cy="2834640"/>
          </a:xfrm>
          <a:prstGeom prst="rect">
            <a:avLst/>
          </a:prstGeom>
          <a:solidFill>
            <a:srgbClr val="0D1B3E"/>
          </a:solidFill>
          <a:ln w="12700">
            <a:solidFill>
              <a:srgbClr val="8B5CF6"/>
            </a:solidFill>
            <a:prstDash val="solid"/>
          </a:ln>
        </p:spPr>
      </p:sp>
      <p:sp>
        <p:nvSpPr>
          <p:cNvPr id="19" name="Shape 17"/>
          <p:cNvSpPr/>
          <p:nvPr/>
        </p:nvSpPr>
        <p:spPr>
          <a:xfrm>
            <a:off x="3739896" y="1691640"/>
            <a:ext cx="1572768" cy="64008"/>
          </a:xfrm>
          <a:prstGeom prst="rect">
            <a:avLst/>
          </a:prstGeom>
          <a:solidFill>
            <a:srgbClr val="8B5CF6"/>
          </a:solidFill>
          <a:ln/>
        </p:spPr>
      </p:sp>
      <p:sp>
        <p:nvSpPr>
          <p:cNvPr id="20" name="Text 18"/>
          <p:cNvSpPr/>
          <p:nvPr/>
        </p:nvSpPr>
        <p:spPr>
          <a:xfrm>
            <a:off x="3831336" y="1874520"/>
            <a:ext cx="1371600" cy="365760"/>
          </a:xfrm>
          <a:prstGeom prst="rect">
            <a:avLst/>
          </a:prstGeom>
          <a:noFill/>
          <a:ln/>
        </p:spPr>
        <p:txBody>
          <a:bodyPr wrap="square" rtlCol="0" anchor="ctr"/>
          <a:lstStyle/>
          <a:p>
            <a:pPr indent="0" marL="0">
              <a:buNone/>
            </a:pPr>
            <a:r>
              <a:rPr lang="en-US" sz="2200" b="1" dirty="0">
                <a:solidFill>
                  <a:srgbClr val="8B5CF6"/>
                </a:solidFill>
              </a:rPr>
              <a:t>03</a:t>
            </a:r>
            <a:endParaRPr lang="en-US" sz="2200" dirty="0"/>
          </a:p>
        </p:txBody>
      </p:sp>
      <p:sp>
        <p:nvSpPr>
          <p:cNvPr id="21" name="Text 19"/>
          <p:cNvSpPr/>
          <p:nvPr/>
        </p:nvSpPr>
        <p:spPr>
          <a:xfrm>
            <a:off x="3831336" y="2240280"/>
            <a:ext cx="1371600" cy="640080"/>
          </a:xfrm>
          <a:prstGeom prst="rect">
            <a:avLst/>
          </a:prstGeom>
          <a:noFill/>
          <a:ln/>
        </p:spPr>
        <p:txBody>
          <a:bodyPr wrap="square" rtlCol="0" anchor="ctr"/>
          <a:lstStyle/>
          <a:p>
            <a:pPr indent="0" marL="0">
              <a:buNone/>
            </a:pPr>
            <a:r>
              <a:rPr lang="en-US" sz="1300" b="1" dirty="0">
                <a:solidFill>
                  <a:srgbClr val="FFFFFF"/>
                </a:solidFill>
              </a:rPr>
              <a:t>Company</a:t>
            </a:r>
            <a:endParaRPr lang="en-US" sz="1300" dirty="0"/>
          </a:p>
          <a:p>
            <a:pPr indent="0" marL="0">
              <a:buNone/>
            </a:pPr>
            <a:r>
              <a:rPr lang="en-US" sz="1300" b="1" dirty="0">
                <a:solidFill>
                  <a:srgbClr val="FFFFFF"/>
                </a:solidFill>
              </a:rPr>
              <a:t>Researcher</a:t>
            </a:r>
            <a:endParaRPr lang="en-US" sz="1300" dirty="0"/>
          </a:p>
        </p:txBody>
      </p:sp>
      <p:sp>
        <p:nvSpPr>
          <p:cNvPr id="22" name="Text 20"/>
          <p:cNvSpPr/>
          <p:nvPr/>
        </p:nvSpPr>
        <p:spPr>
          <a:xfrm>
            <a:off x="3831336" y="2953512"/>
            <a:ext cx="1389888" cy="1005840"/>
          </a:xfrm>
          <a:prstGeom prst="rect">
            <a:avLst/>
          </a:prstGeom>
          <a:noFill/>
          <a:ln/>
        </p:spPr>
        <p:txBody>
          <a:bodyPr wrap="square" rtlCol="0" anchor="ctr"/>
          <a:lstStyle/>
          <a:p>
            <a:pPr indent="0" marL="0">
              <a:buNone/>
            </a:pPr>
            <a:r>
              <a:rPr lang="en-US" sz="1100" dirty="0">
                <a:solidFill>
                  <a:srgbClr val="94A3B8"/>
                </a:solidFill>
              </a:rPr>
              <a:t>Visits each company</a:t>
            </a:r>
            <a:endParaRPr lang="en-US" sz="1100" dirty="0"/>
          </a:p>
          <a:p>
            <a:pPr indent="0" marL="0">
              <a:buNone/>
            </a:pPr>
            <a:r>
              <a:rPr lang="en-US" sz="1100" dirty="0">
                <a:solidFill>
                  <a:srgbClr val="94A3B8"/>
                </a:solidFill>
              </a:rPr>
              <a:t>website, reads and</a:t>
            </a:r>
            <a:endParaRPr lang="en-US" sz="1100" dirty="0"/>
          </a:p>
          <a:p>
            <a:pPr indent="0" marL="0">
              <a:buNone/>
            </a:pPr>
            <a:r>
              <a:rPr lang="en-US" sz="1100" dirty="0">
                <a:solidFill>
                  <a:srgbClr val="94A3B8"/>
                </a:solidFill>
              </a:rPr>
              <a:t>understands it</a:t>
            </a:r>
            <a:endParaRPr lang="en-US" sz="1100" dirty="0"/>
          </a:p>
        </p:txBody>
      </p:sp>
      <p:sp>
        <p:nvSpPr>
          <p:cNvPr id="23" name="Text 21"/>
          <p:cNvSpPr/>
          <p:nvPr/>
        </p:nvSpPr>
        <p:spPr>
          <a:xfrm>
            <a:off x="5294376" y="2926080"/>
            <a:ext cx="164592" cy="36576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24" name="Shape 22"/>
          <p:cNvSpPr/>
          <p:nvPr/>
        </p:nvSpPr>
        <p:spPr>
          <a:xfrm>
            <a:off x="5404104" y="1691640"/>
            <a:ext cx="1572768" cy="2834640"/>
          </a:xfrm>
          <a:prstGeom prst="rect">
            <a:avLst/>
          </a:prstGeom>
          <a:solidFill>
            <a:srgbClr val="0D1B3E"/>
          </a:solidFill>
          <a:ln w="12700">
            <a:solidFill>
              <a:srgbClr val="F59E0B"/>
            </a:solidFill>
            <a:prstDash val="solid"/>
          </a:ln>
        </p:spPr>
      </p:sp>
      <p:sp>
        <p:nvSpPr>
          <p:cNvPr id="25" name="Shape 23"/>
          <p:cNvSpPr/>
          <p:nvPr/>
        </p:nvSpPr>
        <p:spPr>
          <a:xfrm>
            <a:off x="5404104" y="1691640"/>
            <a:ext cx="1572768" cy="64008"/>
          </a:xfrm>
          <a:prstGeom prst="rect">
            <a:avLst/>
          </a:prstGeom>
          <a:solidFill>
            <a:srgbClr val="F59E0B"/>
          </a:solidFill>
          <a:ln/>
        </p:spPr>
      </p:sp>
      <p:sp>
        <p:nvSpPr>
          <p:cNvPr id="26" name="Text 24"/>
          <p:cNvSpPr/>
          <p:nvPr/>
        </p:nvSpPr>
        <p:spPr>
          <a:xfrm>
            <a:off x="5495544" y="1874520"/>
            <a:ext cx="1371600" cy="365760"/>
          </a:xfrm>
          <a:prstGeom prst="rect">
            <a:avLst/>
          </a:prstGeom>
          <a:noFill/>
          <a:ln/>
        </p:spPr>
        <p:txBody>
          <a:bodyPr wrap="square" rtlCol="0" anchor="ctr"/>
          <a:lstStyle/>
          <a:p>
            <a:pPr indent="0" marL="0">
              <a:buNone/>
            </a:pPr>
            <a:r>
              <a:rPr lang="en-US" sz="2200" b="1" dirty="0">
                <a:solidFill>
                  <a:srgbClr val="F59E0B"/>
                </a:solidFill>
              </a:rPr>
              <a:t>04</a:t>
            </a:r>
            <a:endParaRPr lang="en-US" sz="2200" dirty="0"/>
          </a:p>
        </p:txBody>
      </p:sp>
      <p:sp>
        <p:nvSpPr>
          <p:cNvPr id="27" name="Text 25"/>
          <p:cNvSpPr/>
          <p:nvPr/>
        </p:nvSpPr>
        <p:spPr>
          <a:xfrm>
            <a:off x="5495544" y="2240280"/>
            <a:ext cx="1371600" cy="640080"/>
          </a:xfrm>
          <a:prstGeom prst="rect">
            <a:avLst/>
          </a:prstGeom>
          <a:noFill/>
          <a:ln/>
        </p:spPr>
        <p:txBody>
          <a:bodyPr wrap="square" rtlCol="0" anchor="ctr"/>
          <a:lstStyle/>
          <a:p>
            <a:pPr indent="0" marL="0">
              <a:buNone/>
            </a:pPr>
            <a:r>
              <a:rPr lang="en-US" sz="1300" b="1" dirty="0">
                <a:solidFill>
                  <a:srgbClr val="FFFFFF"/>
                </a:solidFill>
              </a:rPr>
              <a:t>Qualification</a:t>
            </a:r>
            <a:endParaRPr lang="en-US" sz="1300" dirty="0"/>
          </a:p>
          <a:p>
            <a:pPr indent="0" marL="0">
              <a:buNone/>
            </a:pPr>
            <a:r>
              <a:rPr lang="en-US" sz="1300" b="1" dirty="0">
                <a:solidFill>
                  <a:srgbClr val="FFFFFF"/>
                </a:solidFill>
              </a:rPr>
              <a:t>Scorer</a:t>
            </a:r>
            <a:endParaRPr lang="en-US" sz="1300" dirty="0"/>
          </a:p>
        </p:txBody>
      </p:sp>
      <p:sp>
        <p:nvSpPr>
          <p:cNvPr id="28" name="Text 26"/>
          <p:cNvSpPr/>
          <p:nvPr/>
        </p:nvSpPr>
        <p:spPr>
          <a:xfrm>
            <a:off x="5495544" y="2953512"/>
            <a:ext cx="1389888" cy="1005840"/>
          </a:xfrm>
          <a:prstGeom prst="rect">
            <a:avLst/>
          </a:prstGeom>
          <a:noFill/>
          <a:ln/>
        </p:spPr>
        <p:txBody>
          <a:bodyPr wrap="square" rtlCol="0" anchor="ctr"/>
          <a:lstStyle/>
          <a:p>
            <a:pPr indent="0" marL="0">
              <a:buNone/>
            </a:pPr>
            <a:r>
              <a:rPr lang="en-US" sz="1100" dirty="0">
                <a:solidFill>
                  <a:srgbClr val="94A3B8"/>
                </a:solidFill>
              </a:rPr>
              <a:t>Scores every lead</a:t>
            </a:r>
            <a:endParaRPr lang="en-US" sz="1100" dirty="0"/>
          </a:p>
          <a:p>
            <a:pPr indent="0" marL="0">
              <a:buNone/>
            </a:pPr>
            <a:r>
              <a:rPr lang="en-US" sz="1100" dirty="0">
                <a:solidFill>
                  <a:srgbClr val="94A3B8"/>
                </a:solidFill>
              </a:rPr>
              <a:t>0–100. Is this worth</a:t>
            </a:r>
            <a:endParaRPr lang="en-US" sz="1100" dirty="0"/>
          </a:p>
          <a:p>
            <a:pPr indent="0" marL="0">
              <a:buNone/>
            </a:pPr>
            <a:r>
              <a:rPr lang="en-US" sz="1100" dirty="0">
                <a:solidFill>
                  <a:srgbClr val="94A3B8"/>
                </a:solidFill>
              </a:rPr>
              <a:t>chasing?</a:t>
            </a:r>
            <a:endParaRPr lang="en-US" sz="1100" dirty="0"/>
          </a:p>
        </p:txBody>
      </p:sp>
      <p:sp>
        <p:nvSpPr>
          <p:cNvPr id="29" name="Text 27"/>
          <p:cNvSpPr/>
          <p:nvPr/>
        </p:nvSpPr>
        <p:spPr>
          <a:xfrm>
            <a:off x="6958584" y="2926080"/>
            <a:ext cx="164592" cy="36576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30" name="Shape 28"/>
          <p:cNvSpPr/>
          <p:nvPr/>
        </p:nvSpPr>
        <p:spPr>
          <a:xfrm>
            <a:off x="7068312" y="1691640"/>
            <a:ext cx="1572768" cy="2834640"/>
          </a:xfrm>
          <a:prstGeom prst="rect">
            <a:avLst/>
          </a:prstGeom>
          <a:solidFill>
            <a:srgbClr val="0D1B3E"/>
          </a:solidFill>
          <a:ln w="12700">
            <a:solidFill>
              <a:srgbClr val="10B981"/>
            </a:solidFill>
            <a:prstDash val="solid"/>
          </a:ln>
        </p:spPr>
      </p:sp>
      <p:sp>
        <p:nvSpPr>
          <p:cNvPr id="31" name="Shape 29"/>
          <p:cNvSpPr/>
          <p:nvPr/>
        </p:nvSpPr>
        <p:spPr>
          <a:xfrm>
            <a:off x="7068312" y="1691640"/>
            <a:ext cx="1572768" cy="64008"/>
          </a:xfrm>
          <a:prstGeom prst="rect">
            <a:avLst/>
          </a:prstGeom>
          <a:solidFill>
            <a:srgbClr val="10B981"/>
          </a:solidFill>
          <a:ln/>
        </p:spPr>
      </p:sp>
      <p:sp>
        <p:nvSpPr>
          <p:cNvPr id="32" name="Text 30"/>
          <p:cNvSpPr/>
          <p:nvPr/>
        </p:nvSpPr>
        <p:spPr>
          <a:xfrm>
            <a:off x="7159752" y="1874520"/>
            <a:ext cx="1371600" cy="365760"/>
          </a:xfrm>
          <a:prstGeom prst="rect">
            <a:avLst/>
          </a:prstGeom>
          <a:noFill/>
          <a:ln/>
        </p:spPr>
        <p:txBody>
          <a:bodyPr wrap="square" rtlCol="0" anchor="ctr"/>
          <a:lstStyle/>
          <a:p>
            <a:pPr indent="0" marL="0">
              <a:buNone/>
            </a:pPr>
            <a:r>
              <a:rPr lang="en-US" sz="2200" b="1" dirty="0">
                <a:solidFill>
                  <a:srgbClr val="10B981"/>
                </a:solidFill>
              </a:rPr>
              <a:t>05</a:t>
            </a:r>
            <a:endParaRPr lang="en-US" sz="2200" dirty="0"/>
          </a:p>
        </p:txBody>
      </p:sp>
      <p:sp>
        <p:nvSpPr>
          <p:cNvPr id="33" name="Text 31"/>
          <p:cNvSpPr/>
          <p:nvPr/>
        </p:nvSpPr>
        <p:spPr>
          <a:xfrm>
            <a:off x="7159752" y="2240280"/>
            <a:ext cx="1371600" cy="640080"/>
          </a:xfrm>
          <a:prstGeom prst="rect">
            <a:avLst/>
          </a:prstGeom>
          <a:noFill/>
          <a:ln/>
        </p:spPr>
        <p:txBody>
          <a:bodyPr wrap="square" rtlCol="0" anchor="ctr"/>
          <a:lstStyle/>
          <a:p>
            <a:pPr indent="0" marL="0">
              <a:buNone/>
            </a:pPr>
            <a:r>
              <a:rPr lang="en-US" sz="1300" b="1" dirty="0">
                <a:solidFill>
                  <a:srgbClr val="FFFFFF"/>
                </a:solidFill>
              </a:rPr>
              <a:t>Email</a:t>
            </a:r>
            <a:endParaRPr lang="en-US" sz="1300" dirty="0"/>
          </a:p>
          <a:p>
            <a:pPr indent="0" marL="0">
              <a:buNone/>
            </a:pPr>
            <a:r>
              <a:rPr lang="en-US" sz="1300" b="1" dirty="0">
                <a:solidFill>
                  <a:srgbClr val="FFFFFF"/>
                </a:solidFill>
              </a:rPr>
              <a:t>Writer</a:t>
            </a:r>
            <a:endParaRPr lang="en-US" sz="1300" dirty="0"/>
          </a:p>
        </p:txBody>
      </p:sp>
      <p:sp>
        <p:nvSpPr>
          <p:cNvPr id="34" name="Text 32"/>
          <p:cNvSpPr/>
          <p:nvPr/>
        </p:nvSpPr>
        <p:spPr>
          <a:xfrm>
            <a:off x="7159752" y="2953512"/>
            <a:ext cx="1389888" cy="1005840"/>
          </a:xfrm>
          <a:prstGeom prst="rect">
            <a:avLst/>
          </a:prstGeom>
          <a:noFill/>
          <a:ln/>
        </p:spPr>
        <p:txBody>
          <a:bodyPr wrap="square" rtlCol="0" anchor="ctr"/>
          <a:lstStyle/>
          <a:p>
            <a:pPr indent="0" marL="0">
              <a:buNone/>
            </a:pPr>
            <a:r>
              <a:rPr lang="en-US" sz="1100" dirty="0">
                <a:solidFill>
                  <a:srgbClr val="94A3B8"/>
                </a:solidFill>
              </a:rPr>
              <a:t>Writes a unique,</a:t>
            </a:r>
            <a:endParaRPr lang="en-US" sz="1100" dirty="0"/>
          </a:p>
          <a:p>
            <a:pPr indent="0" marL="0">
              <a:buNone/>
            </a:pPr>
            <a:r>
              <a:rPr lang="en-US" sz="1100" dirty="0">
                <a:solidFill>
                  <a:srgbClr val="94A3B8"/>
                </a:solidFill>
              </a:rPr>
              <a:t>personal cold email</a:t>
            </a:r>
            <a:endParaRPr lang="en-US" sz="1100" dirty="0"/>
          </a:p>
          <a:p>
            <a:pPr indent="0" marL="0">
              <a:buNone/>
            </a:pPr>
            <a:r>
              <a:rPr lang="en-US" sz="1100" dirty="0">
                <a:solidFill>
                  <a:srgbClr val="94A3B8"/>
                </a:solidFill>
              </a:rPr>
              <a:t>per lead</a:t>
            </a:r>
            <a:endParaRPr lang="en-US" sz="1100" dirty="0"/>
          </a:p>
        </p:txBody>
      </p:sp>
      <p:sp>
        <p:nvSpPr>
          <p:cNvPr id="35" name="Text 33"/>
          <p:cNvSpPr/>
          <p:nvPr/>
        </p:nvSpPr>
        <p:spPr>
          <a:xfrm>
            <a:off x="457200" y="4709160"/>
            <a:ext cx="8229600" cy="320040"/>
          </a:xfrm>
          <a:prstGeom prst="rect">
            <a:avLst/>
          </a:prstGeom>
          <a:noFill/>
          <a:ln/>
        </p:spPr>
        <p:txBody>
          <a:bodyPr wrap="square" rtlCol="0" anchor="ctr"/>
          <a:lstStyle/>
          <a:p>
            <a:pPr algn="ctr" indent="0" marL="0">
              <a:buNone/>
            </a:pPr>
            <a:r>
              <a:rPr lang="en-US" sz="1000" i="1" dirty="0">
                <a:solidFill>
                  <a:srgbClr val="94A3B8"/>
                </a:solidFill>
              </a:rPr>
              <a:t>Claude Haiku (fast, cheap) powers agents 1–4  |  Claude Sonnet (smarter) powers agent 5</a:t>
            </a:r>
            <a:endParaRPr lang="en-US" sz="1000" dirty="0"/>
          </a:p>
        </p:txBody>
      </p:sp>
      <p:sp>
        <p:nvSpPr>
          <p:cNvPr id="36" name="Text 34"/>
          <p:cNvSpPr/>
          <p:nvPr/>
        </p:nvSpPr>
        <p:spPr>
          <a:xfrm>
            <a:off x="7132320" y="4892040"/>
            <a:ext cx="1828800" cy="182880"/>
          </a:xfrm>
          <a:prstGeom prst="rect">
            <a:avLst/>
          </a:prstGeom>
          <a:noFill/>
          <a:ln/>
        </p:spPr>
        <p:txBody>
          <a:bodyPr wrap="square" rtlCol="0" anchor="ctr"/>
          <a:lstStyle/>
          <a:p>
            <a:pPr algn="r" indent="0" marL="0">
              <a:buNone/>
            </a:pPr>
            <a:r>
              <a:rPr lang="en-US" sz="900" dirty="0">
                <a:solidFill>
                  <a:srgbClr val="334155"/>
                </a:solidFill>
              </a:rPr>
              <a:t>flowfiy.com  |  Confidential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A0F1E"/>
          </a:solidFill>
          <a:ln/>
        </p:spPr>
      </p:sp>
      <p:sp>
        <p:nvSpPr>
          <p:cNvPr id="3" name="Text 1"/>
          <p:cNvSpPr/>
          <p:nvPr/>
        </p:nvSpPr>
        <p:spPr>
          <a:xfrm>
            <a:off x="457200" y="0"/>
            <a:ext cx="8229600" cy="502920"/>
          </a:xfrm>
          <a:prstGeom prst="rect">
            <a:avLst/>
          </a:prstGeom>
          <a:noFill/>
          <a:ln/>
        </p:spPr>
        <p:txBody>
          <a:bodyPr wrap="square" rtlCol="0" anchor="ctr"/>
          <a:lstStyle/>
          <a:p>
            <a:pPr indent="0" marL="0">
              <a:buNone/>
            </a:pPr>
            <a:r>
              <a:rPr lang="en-US" sz="1100" b="1" spc="300" kern="0" dirty="0">
                <a:solidFill>
                  <a:srgbClr val="93C5FD"/>
                </a:solidFill>
              </a:rPr>
              <a:t>THE INFRASTRUCTURE</a:t>
            </a:r>
            <a:endParaRPr lang="en-US" sz="11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1E293B"/>
                </a:solidFill>
              </a:rPr>
              <a:t>Four layers — each with one job</a:t>
            </a:r>
            <a:endParaRPr lang="en-US" sz="2600" dirty="0"/>
          </a:p>
        </p:txBody>
      </p:sp>
      <p:sp>
        <p:nvSpPr>
          <p:cNvPr id="5" name="Shape 3"/>
          <p:cNvSpPr/>
          <p:nvPr/>
        </p:nvSpPr>
        <p:spPr>
          <a:xfrm>
            <a:off x="411480" y="1298448"/>
            <a:ext cx="8321040" cy="804672"/>
          </a:xfrm>
          <a:prstGeom prst="rect">
            <a:avLst/>
          </a:prstGeom>
          <a:solidFill>
            <a:srgbClr val="EFF6FF"/>
          </a:solidFill>
          <a:ln w="6350">
            <a:solidFill>
              <a:srgbClr val="E2E8F0"/>
            </a:solidFill>
            <a:prstDash val="solid"/>
          </a:ln>
        </p:spPr>
      </p:sp>
      <p:sp>
        <p:nvSpPr>
          <p:cNvPr id="6" name="Shape 4"/>
          <p:cNvSpPr/>
          <p:nvPr/>
        </p:nvSpPr>
        <p:spPr>
          <a:xfrm>
            <a:off x="411480" y="1298448"/>
            <a:ext cx="54864" cy="804672"/>
          </a:xfrm>
          <a:prstGeom prst="rect">
            <a:avLst/>
          </a:prstGeom>
          <a:solidFill>
            <a:srgbClr val="1A56DB"/>
          </a:solidFill>
          <a:ln/>
        </p:spPr>
      </p:sp>
      <p:sp>
        <p:nvSpPr>
          <p:cNvPr id="7" name="Shape 5"/>
          <p:cNvSpPr/>
          <p:nvPr/>
        </p:nvSpPr>
        <p:spPr>
          <a:xfrm>
            <a:off x="566928" y="1499616"/>
            <a:ext cx="402336" cy="402336"/>
          </a:xfrm>
          <a:prstGeom prst="ellipse">
            <a:avLst/>
          </a:prstGeom>
          <a:solidFill>
            <a:srgbClr val="1A56DB"/>
          </a:solidFill>
          <a:ln/>
        </p:spPr>
      </p:sp>
      <p:sp>
        <p:nvSpPr>
          <p:cNvPr id="8" name="Text 6"/>
          <p:cNvSpPr/>
          <p:nvPr/>
        </p:nvSpPr>
        <p:spPr>
          <a:xfrm>
            <a:off x="566928" y="14996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097280" y="1371600"/>
            <a:ext cx="2194560" cy="320040"/>
          </a:xfrm>
          <a:prstGeom prst="rect">
            <a:avLst/>
          </a:prstGeom>
          <a:noFill/>
          <a:ln/>
        </p:spPr>
        <p:txBody>
          <a:bodyPr wrap="square" rtlCol="0" anchor="ctr"/>
          <a:lstStyle/>
          <a:p>
            <a:pPr indent="0" marL="0">
              <a:buNone/>
            </a:pPr>
            <a:r>
              <a:rPr lang="en-US" sz="1300" b="1" dirty="0">
                <a:solidFill>
                  <a:srgbClr val="1E293B"/>
                </a:solidFill>
              </a:rPr>
              <a:t>Your browser (Vercel)</a:t>
            </a:r>
            <a:endParaRPr lang="en-US" sz="1300" dirty="0"/>
          </a:p>
        </p:txBody>
      </p:sp>
      <p:sp>
        <p:nvSpPr>
          <p:cNvPr id="10" name="Text 8"/>
          <p:cNvSpPr/>
          <p:nvPr/>
        </p:nvSpPr>
        <p:spPr>
          <a:xfrm>
            <a:off x="1097280" y="1700784"/>
            <a:ext cx="2194560" cy="274320"/>
          </a:xfrm>
          <a:prstGeom prst="rect">
            <a:avLst/>
          </a:prstGeom>
          <a:noFill/>
          <a:ln/>
        </p:spPr>
        <p:txBody>
          <a:bodyPr wrap="square" rtlCol="0" anchor="ctr"/>
          <a:lstStyle/>
          <a:p>
            <a:pPr indent="0" marL="0">
              <a:buNone/>
            </a:pPr>
            <a:r>
              <a:rPr lang="en-US" sz="1100" i="1" dirty="0">
                <a:solidFill>
                  <a:srgbClr val="94A3B8"/>
                </a:solidFill>
              </a:rPr>
              <a:t>What you see and click</a:t>
            </a:r>
            <a:endParaRPr lang="en-US" sz="1100" dirty="0"/>
          </a:p>
        </p:txBody>
      </p:sp>
      <p:sp>
        <p:nvSpPr>
          <p:cNvPr id="11" name="Text 9"/>
          <p:cNvSpPr/>
          <p:nvPr/>
        </p:nvSpPr>
        <p:spPr>
          <a:xfrm>
            <a:off x="3429000" y="1362456"/>
            <a:ext cx="5212080" cy="685800"/>
          </a:xfrm>
          <a:prstGeom prst="rect">
            <a:avLst/>
          </a:prstGeom>
          <a:noFill/>
          <a:ln/>
        </p:spPr>
        <p:txBody>
          <a:bodyPr wrap="square" rtlCol="0" anchor="ctr"/>
          <a:lstStyle/>
          <a:p>
            <a:pPr indent="0" marL="0">
              <a:buNone/>
            </a:pPr>
            <a:r>
              <a:rPr lang="en-US" sz="1100" dirty="0">
                <a:solidFill>
                  <a:srgbClr val="475569"/>
                </a:solidFill>
              </a:rPr>
              <a:t>Every page you open — dashboard, leads, campaigns — is served instantly from Vercel, a global web platform. When you click 'Generate Leads', Vercel checks you're logged in, validates your request, and passes the job to the next layer. It never does the heavy AI work itself.</a:t>
            </a:r>
            <a:endParaRPr lang="en-US" sz="1100" dirty="0"/>
          </a:p>
        </p:txBody>
      </p:sp>
      <p:sp>
        <p:nvSpPr>
          <p:cNvPr id="12" name="Shape 10"/>
          <p:cNvSpPr/>
          <p:nvPr/>
        </p:nvSpPr>
        <p:spPr>
          <a:xfrm>
            <a:off x="411480" y="2194560"/>
            <a:ext cx="8321040" cy="804672"/>
          </a:xfrm>
          <a:prstGeom prst="rect">
            <a:avLst/>
          </a:prstGeom>
          <a:solidFill>
            <a:srgbClr val="F0FDFA"/>
          </a:solidFill>
          <a:ln w="6350">
            <a:solidFill>
              <a:srgbClr val="E2E8F0"/>
            </a:solidFill>
            <a:prstDash val="solid"/>
          </a:ln>
        </p:spPr>
      </p:sp>
      <p:sp>
        <p:nvSpPr>
          <p:cNvPr id="13" name="Shape 11"/>
          <p:cNvSpPr/>
          <p:nvPr/>
        </p:nvSpPr>
        <p:spPr>
          <a:xfrm>
            <a:off x="411480" y="2194560"/>
            <a:ext cx="54864" cy="804672"/>
          </a:xfrm>
          <a:prstGeom prst="rect">
            <a:avLst/>
          </a:prstGeom>
          <a:solidFill>
            <a:srgbClr val="0EA5E9"/>
          </a:solidFill>
          <a:ln/>
        </p:spPr>
      </p:sp>
      <p:sp>
        <p:nvSpPr>
          <p:cNvPr id="14" name="Shape 12"/>
          <p:cNvSpPr/>
          <p:nvPr/>
        </p:nvSpPr>
        <p:spPr>
          <a:xfrm>
            <a:off x="566928" y="2395728"/>
            <a:ext cx="402336" cy="402336"/>
          </a:xfrm>
          <a:prstGeom prst="ellipse">
            <a:avLst/>
          </a:prstGeom>
          <a:solidFill>
            <a:srgbClr val="0EA5E9"/>
          </a:solidFill>
          <a:ln/>
        </p:spPr>
      </p:sp>
      <p:sp>
        <p:nvSpPr>
          <p:cNvPr id="15" name="Text 13"/>
          <p:cNvSpPr/>
          <p:nvPr/>
        </p:nvSpPr>
        <p:spPr>
          <a:xfrm>
            <a:off x="566928" y="23957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1097280" y="2267712"/>
            <a:ext cx="2194560" cy="320040"/>
          </a:xfrm>
          <a:prstGeom prst="rect">
            <a:avLst/>
          </a:prstGeom>
          <a:noFill/>
          <a:ln/>
        </p:spPr>
        <p:txBody>
          <a:bodyPr wrap="square" rtlCol="0" anchor="ctr"/>
          <a:lstStyle/>
          <a:p>
            <a:pPr indent="0" marL="0">
              <a:buNone/>
            </a:pPr>
            <a:r>
              <a:rPr lang="en-US" sz="1300" b="1" dirty="0">
                <a:solidFill>
                  <a:srgbClr val="1E293B"/>
                </a:solidFill>
              </a:rPr>
              <a:t>The waiting room (Upstash Redis)</a:t>
            </a:r>
            <a:endParaRPr lang="en-US" sz="1300" dirty="0"/>
          </a:p>
        </p:txBody>
      </p:sp>
      <p:sp>
        <p:nvSpPr>
          <p:cNvPr id="17" name="Text 15"/>
          <p:cNvSpPr/>
          <p:nvPr/>
        </p:nvSpPr>
        <p:spPr>
          <a:xfrm>
            <a:off x="1097280" y="2596896"/>
            <a:ext cx="2194560" cy="274320"/>
          </a:xfrm>
          <a:prstGeom prst="rect">
            <a:avLst/>
          </a:prstGeom>
          <a:noFill/>
          <a:ln/>
        </p:spPr>
        <p:txBody>
          <a:bodyPr wrap="square" rtlCol="0" anchor="ctr"/>
          <a:lstStyle/>
          <a:p>
            <a:pPr indent="0" marL="0">
              <a:buNone/>
            </a:pPr>
            <a:r>
              <a:rPr lang="en-US" sz="1100" i="1" dirty="0">
                <a:solidFill>
                  <a:srgbClr val="94A3B8"/>
                </a:solidFill>
              </a:rPr>
              <a:t>Jobs queue here</a:t>
            </a:r>
            <a:endParaRPr lang="en-US" sz="1100" dirty="0"/>
          </a:p>
        </p:txBody>
      </p:sp>
      <p:sp>
        <p:nvSpPr>
          <p:cNvPr id="18" name="Text 16"/>
          <p:cNvSpPr/>
          <p:nvPr/>
        </p:nvSpPr>
        <p:spPr>
          <a:xfrm>
            <a:off x="3429000" y="2258568"/>
            <a:ext cx="5212080" cy="685800"/>
          </a:xfrm>
          <a:prstGeom prst="rect">
            <a:avLst/>
          </a:prstGeom>
          <a:noFill/>
          <a:ln/>
        </p:spPr>
        <p:txBody>
          <a:bodyPr wrap="square" rtlCol="0" anchor="ctr"/>
          <a:lstStyle/>
          <a:p>
            <a:pPr indent="0" marL="0">
              <a:buNone/>
            </a:pPr>
            <a:r>
              <a:rPr lang="en-US" sz="1100" dirty="0">
                <a:solidFill>
                  <a:srgbClr val="475569"/>
                </a:solidFill>
              </a:rPr>
              <a:t>Once your request arrives, it's dropped into a Redis queue — think of it like a numbered ticket. This is why your screen doesn't freeze: Vercel hands off the job immediately and tells you 'it's running'. The AI worker picks it up in the background at its own pace.</a:t>
            </a:r>
            <a:endParaRPr lang="en-US" sz="1100" dirty="0"/>
          </a:p>
        </p:txBody>
      </p:sp>
      <p:sp>
        <p:nvSpPr>
          <p:cNvPr id="19" name="Shape 17"/>
          <p:cNvSpPr/>
          <p:nvPr/>
        </p:nvSpPr>
        <p:spPr>
          <a:xfrm>
            <a:off x="411480" y="3090672"/>
            <a:ext cx="8321040" cy="804672"/>
          </a:xfrm>
          <a:prstGeom prst="rect">
            <a:avLst/>
          </a:prstGeom>
          <a:solidFill>
            <a:srgbClr val="FAF5FF"/>
          </a:solidFill>
          <a:ln w="6350">
            <a:solidFill>
              <a:srgbClr val="E2E8F0"/>
            </a:solidFill>
            <a:prstDash val="solid"/>
          </a:ln>
        </p:spPr>
      </p:sp>
      <p:sp>
        <p:nvSpPr>
          <p:cNvPr id="20" name="Shape 18"/>
          <p:cNvSpPr/>
          <p:nvPr/>
        </p:nvSpPr>
        <p:spPr>
          <a:xfrm>
            <a:off x="411480" y="3090672"/>
            <a:ext cx="54864" cy="804672"/>
          </a:xfrm>
          <a:prstGeom prst="rect">
            <a:avLst/>
          </a:prstGeom>
          <a:solidFill>
            <a:srgbClr val="8B5CF6"/>
          </a:solidFill>
          <a:ln/>
        </p:spPr>
      </p:sp>
      <p:sp>
        <p:nvSpPr>
          <p:cNvPr id="21" name="Shape 19"/>
          <p:cNvSpPr/>
          <p:nvPr/>
        </p:nvSpPr>
        <p:spPr>
          <a:xfrm>
            <a:off x="566928" y="3291840"/>
            <a:ext cx="402336" cy="402336"/>
          </a:xfrm>
          <a:prstGeom prst="ellipse">
            <a:avLst/>
          </a:prstGeom>
          <a:solidFill>
            <a:srgbClr val="8B5CF6"/>
          </a:solidFill>
          <a:ln/>
        </p:spPr>
      </p:sp>
      <p:sp>
        <p:nvSpPr>
          <p:cNvPr id="22" name="Text 20"/>
          <p:cNvSpPr/>
          <p:nvPr/>
        </p:nvSpPr>
        <p:spPr>
          <a:xfrm>
            <a:off x="566928" y="32918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3" name="Text 21"/>
          <p:cNvSpPr/>
          <p:nvPr/>
        </p:nvSpPr>
        <p:spPr>
          <a:xfrm>
            <a:off x="1097280" y="3163824"/>
            <a:ext cx="2194560" cy="320040"/>
          </a:xfrm>
          <a:prstGeom prst="rect">
            <a:avLst/>
          </a:prstGeom>
          <a:noFill/>
          <a:ln/>
        </p:spPr>
        <p:txBody>
          <a:bodyPr wrap="square" rtlCol="0" anchor="ctr"/>
          <a:lstStyle/>
          <a:p>
            <a:pPr indent="0" marL="0">
              <a:buNone/>
            </a:pPr>
            <a:r>
              <a:rPr lang="en-US" sz="1300" b="1" dirty="0">
                <a:solidFill>
                  <a:srgbClr val="1E293B"/>
                </a:solidFill>
              </a:rPr>
              <a:t>The AI engine (Railway Worker)</a:t>
            </a:r>
            <a:endParaRPr lang="en-US" sz="1300" dirty="0"/>
          </a:p>
        </p:txBody>
      </p:sp>
      <p:sp>
        <p:nvSpPr>
          <p:cNvPr id="24" name="Text 22"/>
          <p:cNvSpPr/>
          <p:nvPr/>
        </p:nvSpPr>
        <p:spPr>
          <a:xfrm>
            <a:off x="1097280" y="3493008"/>
            <a:ext cx="2194560" cy="274320"/>
          </a:xfrm>
          <a:prstGeom prst="rect">
            <a:avLst/>
          </a:prstGeom>
          <a:noFill/>
          <a:ln/>
        </p:spPr>
        <p:txBody>
          <a:bodyPr wrap="square" rtlCol="0" anchor="ctr"/>
          <a:lstStyle/>
          <a:p>
            <a:pPr indent="0" marL="0">
              <a:buNone/>
            </a:pPr>
            <a:r>
              <a:rPr lang="en-US" sz="1100" i="1" dirty="0">
                <a:solidFill>
                  <a:srgbClr val="94A3B8"/>
                </a:solidFill>
              </a:rPr>
              <a:t>Always running, never stops</a:t>
            </a:r>
            <a:endParaRPr lang="en-US" sz="1100" dirty="0"/>
          </a:p>
        </p:txBody>
      </p:sp>
      <p:sp>
        <p:nvSpPr>
          <p:cNvPr id="25" name="Text 23"/>
          <p:cNvSpPr/>
          <p:nvPr/>
        </p:nvSpPr>
        <p:spPr>
          <a:xfrm>
            <a:off x="3429000" y="3154680"/>
            <a:ext cx="5212080" cy="685800"/>
          </a:xfrm>
          <a:prstGeom prst="rect">
            <a:avLst/>
          </a:prstGeom>
          <a:noFill/>
          <a:ln/>
        </p:spPr>
        <p:txBody>
          <a:bodyPr wrap="square" rtlCol="0" anchor="ctr"/>
          <a:lstStyle/>
          <a:p>
            <a:pPr indent="0" marL="0">
              <a:buNone/>
            </a:pPr>
            <a:r>
              <a:rPr lang="en-US" sz="1100" dirty="0">
                <a:solidFill>
                  <a:srgbClr val="475569"/>
                </a:solidFill>
              </a:rPr>
              <a:t>A dedicated server (Railway) watches the queue 24/7. The moment a job appears, it runs all 5 agents in sequence. It processes up to 10 leads in parallel, handles retries automatically if something fails, and writes every result to the database when done.</a:t>
            </a:r>
            <a:endParaRPr lang="en-US" sz="1100" dirty="0"/>
          </a:p>
        </p:txBody>
      </p:sp>
      <p:sp>
        <p:nvSpPr>
          <p:cNvPr id="26" name="Shape 24"/>
          <p:cNvSpPr/>
          <p:nvPr/>
        </p:nvSpPr>
        <p:spPr>
          <a:xfrm>
            <a:off x="411480" y="3986784"/>
            <a:ext cx="8321040" cy="804672"/>
          </a:xfrm>
          <a:prstGeom prst="rect">
            <a:avLst/>
          </a:prstGeom>
          <a:solidFill>
            <a:srgbClr val="F0FDF4"/>
          </a:solidFill>
          <a:ln w="6350">
            <a:solidFill>
              <a:srgbClr val="E2E8F0"/>
            </a:solidFill>
            <a:prstDash val="solid"/>
          </a:ln>
        </p:spPr>
      </p:sp>
      <p:sp>
        <p:nvSpPr>
          <p:cNvPr id="27" name="Shape 25"/>
          <p:cNvSpPr/>
          <p:nvPr/>
        </p:nvSpPr>
        <p:spPr>
          <a:xfrm>
            <a:off x="411480" y="3986784"/>
            <a:ext cx="54864" cy="804672"/>
          </a:xfrm>
          <a:prstGeom prst="rect">
            <a:avLst/>
          </a:prstGeom>
          <a:solidFill>
            <a:srgbClr val="10B981"/>
          </a:solidFill>
          <a:ln/>
        </p:spPr>
      </p:sp>
      <p:sp>
        <p:nvSpPr>
          <p:cNvPr id="28" name="Shape 26"/>
          <p:cNvSpPr/>
          <p:nvPr/>
        </p:nvSpPr>
        <p:spPr>
          <a:xfrm>
            <a:off x="566928" y="4187952"/>
            <a:ext cx="402336" cy="402336"/>
          </a:xfrm>
          <a:prstGeom prst="ellipse">
            <a:avLst/>
          </a:prstGeom>
          <a:solidFill>
            <a:srgbClr val="10B981"/>
          </a:solidFill>
          <a:ln/>
        </p:spPr>
      </p:sp>
      <p:sp>
        <p:nvSpPr>
          <p:cNvPr id="29" name="Text 27"/>
          <p:cNvSpPr/>
          <p:nvPr/>
        </p:nvSpPr>
        <p:spPr>
          <a:xfrm>
            <a:off x="566928" y="4187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0" name="Text 28"/>
          <p:cNvSpPr/>
          <p:nvPr/>
        </p:nvSpPr>
        <p:spPr>
          <a:xfrm>
            <a:off x="1097280" y="4059936"/>
            <a:ext cx="2194560" cy="320040"/>
          </a:xfrm>
          <a:prstGeom prst="rect">
            <a:avLst/>
          </a:prstGeom>
          <a:noFill/>
          <a:ln/>
        </p:spPr>
        <p:txBody>
          <a:bodyPr wrap="square" rtlCol="0" anchor="ctr"/>
          <a:lstStyle/>
          <a:p>
            <a:pPr indent="0" marL="0">
              <a:buNone/>
            </a:pPr>
            <a:r>
              <a:rPr lang="en-US" sz="1300" b="1" dirty="0">
                <a:solidFill>
                  <a:srgbClr val="1E293B"/>
                </a:solidFill>
              </a:rPr>
              <a:t>The memory (Supabase)</a:t>
            </a:r>
            <a:endParaRPr lang="en-US" sz="1300" dirty="0"/>
          </a:p>
        </p:txBody>
      </p:sp>
      <p:sp>
        <p:nvSpPr>
          <p:cNvPr id="31" name="Text 29"/>
          <p:cNvSpPr/>
          <p:nvPr/>
        </p:nvSpPr>
        <p:spPr>
          <a:xfrm>
            <a:off x="1097280" y="4389120"/>
            <a:ext cx="2194560" cy="274320"/>
          </a:xfrm>
          <a:prstGeom prst="rect">
            <a:avLst/>
          </a:prstGeom>
          <a:noFill/>
          <a:ln/>
        </p:spPr>
        <p:txBody>
          <a:bodyPr wrap="square" rtlCol="0" anchor="ctr"/>
          <a:lstStyle/>
          <a:p>
            <a:pPr indent="0" marL="0">
              <a:buNone/>
            </a:pPr>
            <a:r>
              <a:rPr lang="en-US" sz="1100" i="1" dirty="0">
                <a:solidFill>
                  <a:srgbClr val="94A3B8"/>
                </a:solidFill>
              </a:rPr>
              <a:t>Stores everything</a:t>
            </a:r>
            <a:endParaRPr lang="en-US" sz="1100" dirty="0"/>
          </a:p>
        </p:txBody>
      </p:sp>
      <p:sp>
        <p:nvSpPr>
          <p:cNvPr id="32" name="Text 30"/>
          <p:cNvSpPr/>
          <p:nvPr/>
        </p:nvSpPr>
        <p:spPr>
          <a:xfrm>
            <a:off x="3429000" y="4050792"/>
            <a:ext cx="5212080" cy="685800"/>
          </a:xfrm>
          <a:prstGeom prst="rect">
            <a:avLst/>
          </a:prstGeom>
          <a:noFill/>
          <a:ln/>
        </p:spPr>
        <p:txBody>
          <a:bodyPr wrap="square" rtlCol="0" anchor="ctr"/>
          <a:lstStyle/>
          <a:p>
            <a:pPr indent="0" marL="0">
              <a:buNone/>
            </a:pPr>
            <a:r>
              <a:rPr lang="en-US" sz="1100" dirty="0">
                <a:solidFill>
                  <a:srgbClr val="475569"/>
                </a:solidFill>
              </a:rPr>
              <a:t>PostgreSQL — the world's most trusted database — stores every lead, email, score, campaign, and billing record. Access is secured so only your organisation can ever see your data. This is also where your login and subscription are managed.</a:t>
            </a:r>
            <a:endParaRPr lang="en-US" sz="1100" dirty="0"/>
          </a:p>
        </p:txBody>
      </p:sp>
      <p:sp>
        <p:nvSpPr>
          <p:cNvPr id="33" name="Text 31"/>
          <p:cNvSpPr/>
          <p:nvPr/>
        </p:nvSpPr>
        <p:spPr>
          <a:xfrm>
            <a:off x="6400800" y="4864608"/>
            <a:ext cx="2560320" cy="256032"/>
          </a:xfrm>
          <a:prstGeom prst="rect">
            <a:avLst/>
          </a:prstGeom>
          <a:noFill/>
          <a:ln/>
        </p:spPr>
        <p:txBody>
          <a:bodyPr wrap="square" rtlCol="0" anchor="ctr"/>
          <a:lstStyle/>
          <a:p>
            <a:pPr algn="r" indent="0" marL="0">
              <a:buNone/>
            </a:pPr>
            <a:r>
              <a:rPr lang="en-US" sz="900" dirty="0">
                <a:solidFill>
                  <a:srgbClr val="94A3B8"/>
                </a:solidFill>
              </a:rPr>
              <a:t>flowfiy.com  |  Confidential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p:spPr>
      </p:sp>
      <p:sp>
        <p:nvSpPr>
          <p:cNvPr id="3" name="Text 1"/>
          <p:cNvSpPr/>
          <p:nvPr/>
        </p:nvSpPr>
        <p:spPr>
          <a:xfrm>
            <a:off x="457200" y="0"/>
            <a:ext cx="8229600" cy="502920"/>
          </a:xfrm>
          <a:prstGeom prst="rect">
            <a:avLst/>
          </a:prstGeom>
          <a:noFill/>
          <a:ln/>
        </p:spPr>
        <p:txBody>
          <a:bodyPr wrap="square" rtlCol="0" anchor="ctr"/>
          <a:lstStyle/>
          <a:p>
            <a:pPr indent="0" marL="0">
              <a:buNone/>
            </a:pPr>
            <a:r>
              <a:rPr lang="en-US" sz="1100" b="1" spc="300" kern="0" dirty="0">
                <a:solidFill>
                  <a:srgbClr val="93C5FD"/>
                </a:solidFill>
              </a:rPr>
              <a:t>STEP BY STEP</a:t>
            </a:r>
            <a:endParaRPr lang="en-US" sz="1100" dirty="0"/>
          </a:p>
        </p:txBody>
      </p:sp>
      <p:sp>
        <p:nvSpPr>
          <p:cNvPr id="4" name="Text 2"/>
          <p:cNvSpPr/>
          <p:nvPr/>
        </p:nvSpPr>
        <p:spPr>
          <a:xfrm>
            <a:off x="457200" y="640080"/>
            <a:ext cx="8229600" cy="822960"/>
          </a:xfrm>
          <a:prstGeom prst="rect">
            <a:avLst/>
          </a:prstGeom>
          <a:noFill/>
          <a:ln/>
        </p:spPr>
        <p:txBody>
          <a:bodyPr wrap="square" rtlCol="0" anchor="ctr"/>
          <a:lstStyle/>
          <a:p>
            <a:pPr indent="0" marL="0">
              <a:buNone/>
            </a:pPr>
            <a:r>
              <a:rPr lang="en-US" sz="2600" b="1" dirty="0">
                <a:solidFill>
                  <a:srgbClr val="FFFFFF"/>
                </a:solidFill>
              </a:rPr>
              <a:t>What happens when you click</a:t>
            </a:r>
            <a:endParaRPr lang="en-US" sz="2600" dirty="0"/>
          </a:p>
          <a:p>
            <a:pPr indent="0" marL="0">
              <a:buNone/>
            </a:pPr>
            <a:r>
              <a:rPr lang="en-US" sz="2600" b="1" dirty="0">
                <a:solidFill>
                  <a:srgbClr val="FFFFFF"/>
                </a:solidFill>
              </a:rPr>
              <a:t>"Generate Leads"</a:t>
            </a:r>
            <a:endParaRPr lang="en-US" sz="2600" dirty="0"/>
          </a:p>
        </p:txBody>
      </p:sp>
      <p:sp>
        <p:nvSpPr>
          <p:cNvPr id="5" name="Shape 3"/>
          <p:cNvSpPr/>
          <p:nvPr/>
        </p:nvSpPr>
        <p:spPr>
          <a:xfrm>
            <a:off x="411480" y="1536192"/>
            <a:ext cx="777240" cy="256032"/>
          </a:xfrm>
          <a:prstGeom prst="rect">
            <a:avLst/>
          </a:prstGeom>
          <a:solidFill>
            <a:srgbClr val="1A56DB">
              <a:alpha val="80000"/>
            </a:srgbClr>
          </a:solidFill>
          <a:ln w="6350">
            <a:solidFill>
              <a:srgbClr val="1A56DB"/>
            </a:solidFill>
            <a:prstDash val="solid"/>
          </a:ln>
        </p:spPr>
      </p:sp>
      <p:sp>
        <p:nvSpPr>
          <p:cNvPr id="6" name="Text 4"/>
          <p:cNvSpPr/>
          <p:nvPr/>
        </p:nvSpPr>
        <p:spPr>
          <a:xfrm>
            <a:off x="411480" y="1536192"/>
            <a:ext cx="777240" cy="256032"/>
          </a:xfrm>
          <a:prstGeom prst="rect">
            <a:avLst/>
          </a:prstGeom>
          <a:noFill/>
          <a:ln/>
        </p:spPr>
        <p:txBody>
          <a:bodyPr wrap="square" lIns="0" tIns="0" rIns="0" bIns="0" rtlCol="0" anchor="ctr"/>
          <a:lstStyle/>
          <a:p>
            <a:pPr algn="ctr" indent="0" marL="0">
              <a:buNone/>
            </a:pPr>
            <a:r>
              <a:rPr lang="en-US" sz="900" b="1" dirty="0">
                <a:solidFill>
                  <a:srgbClr val="93C5FD"/>
                </a:solidFill>
              </a:rPr>
              <a:t>0 sec</a:t>
            </a:r>
            <a:endParaRPr lang="en-US" sz="900" dirty="0"/>
          </a:p>
        </p:txBody>
      </p:sp>
      <p:sp>
        <p:nvSpPr>
          <p:cNvPr id="7" name="Text 5"/>
          <p:cNvSpPr/>
          <p:nvPr/>
        </p:nvSpPr>
        <p:spPr>
          <a:xfrm>
            <a:off x="1325880" y="1517904"/>
            <a:ext cx="7406640" cy="292608"/>
          </a:xfrm>
          <a:prstGeom prst="rect">
            <a:avLst/>
          </a:prstGeom>
          <a:noFill/>
          <a:ln/>
        </p:spPr>
        <p:txBody>
          <a:bodyPr wrap="square" rtlCol="0" anchor="ctr"/>
          <a:lstStyle/>
          <a:p>
            <a:pPr indent="0" marL="0">
              <a:buNone/>
            </a:pPr>
            <a:r>
              <a:rPr lang="en-US" sz="1300" b="1" dirty="0">
                <a:solidFill>
                  <a:srgbClr val="FFFFFF"/>
                </a:solidFill>
              </a:rPr>
              <a:t>You click the button</a:t>
            </a:r>
            <a:endParaRPr lang="en-US" sz="1300" dirty="0"/>
          </a:p>
        </p:txBody>
      </p:sp>
      <p:sp>
        <p:nvSpPr>
          <p:cNvPr id="8" name="Text 6"/>
          <p:cNvSpPr/>
          <p:nvPr/>
        </p:nvSpPr>
        <p:spPr>
          <a:xfrm>
            <a:off x="1325880" y="1810512"/>
            <a:ext cx="7406640" cy="347472"/>
          </a:xfrm>
          <a:prstGeom prst="rect">
            <a:avLst/>
          </a:prstGeom>
          <a:noFill/>
          <a:ln/>
        </p:spPr>
        <p:txBody>
          <a:bodyPr wrap="square" rtlCol="0" anchor="ctr"/>
          <a:lstStyle/>
          <a:p>
            <a:pPr indent="0" marL="0">
              <a:buNone/>
            </a:pPr>
            <a:r>
              <a:rPr lang="en-US" sz="1050" dirty="0">
                <a:solidFill>
                  <a:srgbClr val="94A3B8"/>
                </a:solidFill>
              </a:rPr>
              <a:t>Browser sends your request to Vercel. Vercel checks: are you logged in? Have you used up your monthly quota? Is your Apollo key connected? If all checks pass, it drops a job into the Redis queue and replies instantly — 'it's running'.</a:t>
            </a:r>
            <a:endParaRPr lang="en-US" sz="1050" dirty="0"/>
          </a:p>
        </p:txBody>
      </p:sp>
      <p:sp>
        <p:nvSpPr>
          <p:cNvPr id="9" name="Shape 7"/>
          <p:cNvSpPr/>
          <p:nvPr/>
        </p:nvSpPr>
        <p:spPr>
          <a:xfrm>
            <a:off x="722376" y="1792224"/>
            <a:ext cx="109728" cy="109728"/>
          </a:xfrm>
          <a:prstGeom prst="ellipse">
            <a:avLst/>
          </a:prstGeom>
          <a:solidFill>
            <a:srgbClr val="1A56DB"/>
          </a:solidFill>
          <a:ln/>
        </p:spPr>
      </p:sp>
      <p:sp>
        <p:nvSpPr>
          <p:cNvPr id="10" name="Shape 8"/>
          <p:cNvSpPr/>
          <p:nvPr/>
        </p:nvSpPr>
        <p:spPr>
          <a:xfrm>
            <a:off x="772668" y="1901952"/>
            <a:ext cx="0" cy="347472"/>
          </a:xfrm>
          <a:prstGeom prst="line">
            <a:avLst/>
          </a:prstGeom>
          <a:noFill/>
          <a:ln w="12700">
            <a:solidFill>
              <a:srgbClr val="1E3A5F"/>
            </a:solidFill>
            <a:prstDash val="dash"/>
          </a:ln>
        </p:spPr>
      </p:sp>
      <p:sp>
        <p:nvSpPr>
          <p:cNvPr id="11" name="Shape 9"/>
          <p:cNvSpPr/>
          <p:nvPr/>
        </p:nvSpPr>
        <p:spPr>
          <a:xfrm>
            <a:off x="411480" y="2203704"/>
            <a:ext cx="777240" cy="256032"/>
          </a:xfrm>
          <a:prstGeom prst="rect">
            <a:avLst/>
          </a:prstGeom>
          <a:solidFill>
            <a:srgbClr val="1A56DB">
              <a:alpha val="80000"/>
            </a:srgbClr>
          </a:solidFill>
          <a:ln w="6350">
            <a:solidFill>
              <a:srgbClr val="1A56DB"/>
            </a:solidFill>
            <a:prstDash val="solid"/>
          </a:ln>
        </p:spPr>
      </p:sp>
      <p:sp>
        <p:nvSpPr>
          <p:cNvPr id="12" name="Text 10"/>
          <p:cNvSpPr/>
          <p:nvPr/>
        </p:nvSpPr>
        <p:spPr>
          <a:xfrm>
            <a:off x="411480" y="2203704"/>
            <a:ext cx="777240" cy="256032"/>
          </a:xfrm>
          <a:prstGeom prst="rect">
            <a:avLst/>
          </a:prstGeom>
          <a:noFill/>
          <a:ln/>
        </p:spPr>
        <p:txBody>
          <a:bodyPr wrap="square" lIns="0" tIns="0" rIns="0" bIns="0" rtlCol="0" anchor="ctr"/>
          <a:lstStyle/>
          <a:p>
            <a:pPr algn="ctr" indent="0" marL="0">
              <a:buNone/>
            </a:pPr>
            <a:r>
              <a:rPr lang="en-US" sz="900" b="1" dirty="0">
                <a:solidFill>
                  <a:srgbClr val="93C5FD"/>
                </a:solidFill>
              </a:rPr>
              <a:t>0–5 sec</a:t>
            </a:r>
            <a:endParaRPr lang="en-US" sz="900" dirty="0"/>
          </a:p>
        </p:txBody>
      </p:sp>
      <p:sp>
        <p:nvSpPr>
          <p:cNvPr id="13" name="Text 11"/>
          <p:cNvSpPr/>
          <p:nvPr/>
        </p:nvSpPr>
        <p:spPr>
          <a:xfrm>
            <a:off x="1325880" y="2185416"/>
            <a:ext cx="7406640" cy="292608"/>
          </a:xfrm>
          <a:prstGeom prst="rect">
            <a:avLst/>
          </a:prstGeom>
          <a:noFill/>
          <a:ln/>
        </p:spPr>
        <p:txBody>
          <a:bodyPr wrap="square" rtlCol="0" anchor="ctr"/>
          <a:lstStyle/>
          <a:p>
            <a:pPr indent="0" marL="0">
              <a:buNone/>
            </a:pPr>
            <a:r>
              <a:rPr lang="en-US" sz="1300" b="1" dirty="0">
                <a:solidFill>
                  <a:srgbClr val="FFFFFF"/>
                </a:solidFill>
              </a:rPr>
              <a:t>ICP + lead discovery</a:t>
            </a:r>
            <a:endParaRPr lang="en-US" sz="1300" dirty="0"/>
          </a:p>
        </p:txBody>
      </p:sp>
      <p:sp>
        <p:nvSpPr>
          <p:cNvPr id="14" name="Text 12"/>
          <p:cNvSpPr/>
          <p:nvPr/>
        </p:nvSpPr>
        <p:spPr>
          <a:xfrm>
            <a:off x="1325880" y="2478024"/>
            <a:ext cx="7406640" cy="347472"/>
          </a:xfrm>
          <a:prstGeom prst="rect">
            <a:avLst/>
          </a:prstGeom>
          <a:noFill/>
          <a:ln/>
        </p:spPr>
        <p:txBody>
          <a:bodyPr wrap="square" rtlCol="0" anchor="ctr"/>
          <a:lstStyle/>
          <a:p>
            <a:pPr indent="0" marL="0">
              <a:buNone/>
            </a:pPr>
            <a:r>
              <a:rPr lang="en-US" sz="1050" dirty="0">
                <a:solidFill>
                  <a:srgbClr val="94A3B8"/>
                </a:solidFill>
              </a:rPr>
              <a:t>The Railway worker picks up the job. Claude Haiku reads your business profile and figures out who to target. It builds a search query and fires it at Apollo.io's 275M contact database. Up to 50 real leads come back — names, emails, job titles, company websites.</a:t>
            </a:r>
            <a:endParaRPr lang="en-US" sz="1050" dirty="0"/>
          </a:p>
        </p:txBody>
      </p:sp>
      <p:sp>
        <p:nvSpPr>
          <p:cNvPr id="15" name="Shape 13"/>
          <p:cNvSpPr/>
          <p:nvPr/>
        </p:nvSpPr>
        <p:spPr>
          <a:xfrm>
            <a:off x="722376" y="2459736"/>
            <a:ext cx="109728" cy="109728"/>
          </a:xfrm>
          <a:prstGeom prst="ellipse">
            <a:avLst/>
          </a:prstGeom>
          <a:solidFill>
            <a:srgbClr val="1A56DB"/>
          </a:solidFill>
          <a:ln/>
        </p:spPr>
      </p:sp>
      <p:sp>
        <p:nvSpPr>
          <p:cNvPr id="16" name="Shape 14"/>
          <p:cNvSpPr/>
          <p:nvPr/>
        </p:nvSpPr>
        <p:spPr>
          <a:xfrm>
            <a:off x="772668" y="2569464"/>
            <a:ext cx="0" cy="347472"/>
          </a:xfrm>
          <a:prstGeom prst="line">
            <a:avLst/>
          </a:prstGeom>
          <a:noFill/>
          <a:ln w="12700">
            <a:solidFill>
              <a:srgbClr val="1E3A5F"/>
            </a:solidFill>
            <a:prstDash val="dash"/>
          </a:ln>
        </p:spPr>
      </p:sp>
      <p:sp>
        <p:nvSpPr>
          <p:cNvPr id="17" name="Shape 15"/>
          <p:cNvSpPr/>
          <p:nvPr/>
        </p:nvSpPr>
        <p:spPr>
          <a:xfrm>
            <a:off x="411480" y="2871216"/>
            <a:ext cx="777240" cy="256032"/>
          </a:xfrm>
          <a:prstGeom prst="rect">
            <a:avLst/>
          </a:prstGeom>
          <a:solidFill>
            <a:srgbClr val="1A56DB">
              <a:alpha val="80000"/>
            </a:srgbClr>
          </a:solidFill>
          <a:ln w="6350">
            <a:solidFill>
              <a:srgbClr val="1A56DB"/>
            </a:solidFill>
            <a:prstDash val="solid"/>
          </a:ln>
        </p:spPr>
      </p:sp>
      <p:sp>
        <p:nvSpPr>
          <p:cNvPr id="18" name="Text 16"/>
          <p:cNvSpPr/>
          <p:nvPr/>
        </p:nvSpPr>
        <p:spPr>
          <a:xfrm>
            <a:off x="411480" y="2871216"/>
            <a:ext cx="777240" cy="256032"/>
          </a:xfrm>
          <a:prstGeom prst="rect">
            <a:avLst/>
          </a:prstGeom>
          <a:noFill/>
          <a:ln/>
        </p:spPr>
        <p:txBody>
          <a:bodyPr wrap="square" lIns="0" tIns="0" rIns="0" bIns="0" rtlCol="0" anchor="ctr"/>
          <a:lstStyle/>
          <a:p>
            <a:pPr algn="ctr" indent="0" marL="0">
              <a:buNone/>
            </a:pPr>
            <a:r>
              <a:rPr lang="en-US" sz="900" b="1" dirty="0">
                <a:solidFill>
                  <a:srgbClr val="93C5FD"/>
                </a:solidFill>
              </a:rPr>
              <a:t>5–90 sec</a:t>
            </a:r>
            <a:endParaRPr lang="en-US" sz="900" dirty="0"/>
          </a:p>
        </p:txBody>
      </p:sp>
      <p:sp>
        <p:nvSpPr>
          <p:cNvPr id="19" name="Text 17"/>
          <p:cNvSpPr/>
          <p:nvPr/>
        </p:nvSpPr>
        <p:spPr>
          <a:xfrm>
            <a:off x="1325880" y="2852928"/>
            <a:ext cx="7406640" cy="292608"/>
          </a:xfrm>
          <a:prstGeom prst="rect">
            <a:avLst/>
          </a:prstGeom>
          <a:noFill/>
          <a:ln/>
        </p:spPr>
        <p:txBody>
          <a:bodyPr wrap="square" rtlCol="0" anchor="ctr"/>
          <a:lstStyle/>
          <a:p>
            <a:pPr indent="0" marL="0">
              <a:buNone/>
            </a:pPr>
            <a:r>
              <a:rPr lang="en-US" sz="1300" b="1" dirty="0">
                <a:solidFill>
                  <a:srgbClr val="FFFFFF"/>
                </a:solidFill>
              </a:rPr>
              <a:t>Research + qualification (10 leads at a time)</a:t>
            </a:r>
            <a:endParaRPr lang="en-US" sz="1300" dirty="0"/>
          </a:p>
        </p:txBody>
      </p:sp>
      <p:sp>
        <p:nvSpPr>
          <p:cNvPr id="20" name="Text 18"/>
          <p:cNvSpPr/>
          <p:nvPr/>
        </p:nvSpPr>
        <p:spPr>
          <a:xfrm>
            <a:off x="1325880" y="3145536"/>
            <a:ext cx="7406640" cy="347472"/>
          </a:xfrm>
          <a:prstGeom prst="rect">
            <a:avLst/>
          </a:prstGeom>
          <a:noFill/>
          <a:ln/>
        </p:spPr>
        <p:txBody>
          <a:bodyPr wrap="square" rtlCol="0" anchor="ctr"/>
          <a:lstStyle/>
          <a:p>
            <a:pPr indent="0" marL="0">
              <a:buNone/>
            </a:pPr>
            <a:r>
              <a:rPr lang="en-US" sz="1050" dirty="0">
                <a:solidFill>
                  <a:srgbClr val="94A3B8"/>
                </a:solidFill>
              </a:rPr>
              <a:t>For each lead, Apify scrapes the company website. Claude Haiku reads the content, understands the business, and scores the lead 0–100 against your ICP. Leads below 60 are marked disqualified. This runs 10 leads simultaneously, not one by one.</a:t>
            </a:r>
            <a:endParaRPr lang="en-US" sz="1050" dirty="0"/>
          </a:p>
        </p:txBody>
      </p:sp>
      <p:sp>
        <p:nvSpPr>
          <p:cNvPr id="21" name="Shape 19"/>
          <p:cNvSpPr/>
          <p:nvPr/>
        </p:nvSpPr>
        <p:spPr>
          <a:xfrm>
            <a:off x="722376" y="3127248"/>
            <a:ext cx="109728" cy="109728"/>
          </a:xfrm>
          <a:prstGeom prst="ellipse">
            <a:avLst/>
          </a:prstGeom>
          <a:solidFill>
            <a:srgbClr val="1A56DB"/>
          </a:solidFill>
          <a:ln/>
        </p:spPr>
      </p:sp>
      <p:sp>
        <p:nvSpPr>
          <p:cNvPr id="22" name="Shape 20"/>
          <p:cNvSpPr/>
          <p:nvPr/>
        </p:nvSpPr>
        <p:spPr>
          <a:xfrm>
            <a:off x="772668" y="3236976"/>
            <a:ext cx="0" cy="347472"/>
          </a:xfrm>
          <a:prstGeom prst="line">
            <a:avLst/>
          </a:prstGeom>
          <a:noFill/>
          <a:ln w="12700">
            <a:solidFill>
              <a:srgbClr val="1E3A5F"/>
            </a:solidFill>
            <a:prstDash val="dash"/>
          </a:ln>
        </p:spPr>
      </p:sp>
      <p:sp>
        <p:nvSpPr>
          <p:cNvPr id="23" name="Shape 21"/>
          <p:cNvSpPr/>
          <p:nvPr/>
        </p:nvSpPr>
        <p:spPr>
          <a:xfrm>
            <a:off x="411480" y="3538728"/>
            <a:ext cx="777240" cy="256032"/>
          </a:xfrm>
          <a:prstGeom prst="rect">
            <a:avLst/>
          </a:prstGeom>
          <a:solidFill>
            <a:srgbClr val="1A56DB">
              <a:alpha val="80000"/>
            </a:srgbClr>
          </a:solidFill>
          <a:ln w="6350">
            <a:solidFill>
              <a:srgbClr val="1A56DB"/>
            </a:solidFill>
            <a:prstDash val="solid"/>
          </a:ln>
        </p:spPr>
      </p:sp>
      <p:sp>
        <p:nvSpPr>
          <p:cNvPr id="24" name="Text 22"/>
          <p:cNvSpPr/>
          <p:nvPr/>
        </p:nvSpPr>
        <p:spPr>
          <a:xfrm>
            <a:off x="411480" y="3538728"/>
            <a:ext cx="777240" cy="256032"/>
          </a:xfrm>
          <a:prstGeom prst="rect">
            <a:avLst/>
          </a:prstGeom>
          <a:noFill/>
          <a:ln/>
        </p:spPr>
        <p:txBody>
          <a:bodyPr wrap="square" lIns="0" tIns="0" rIns="0" bIns="0" rtlCol="0" anchor="ctr"/>
          <a:lstStyle/>
          <a:p>
            <a:pPr algn="ctr" indent="0" marL="0">
              <a:buNone/>
            </a:pPr>
            <a:r>
              <a:rPr lang="en-US" sz="900" b="1" dirty="0">
                <a:solidFill>
                  <a:srgbClr val="93C5FD"/>
                </a:solidFill>
              </a:rPr>
              <a:t>90–180 sec</a:t>
            </a:r>
            <a:endParaRPr lang="en-US" sz="900" dirty="0"/>
          </a:p>
        </p:txBody>
      </p:sp>
      <p:sp>
        <p:nvSpPr>
          <p:cNvPr id="25" name="Text 23"/>
          <p:cNvSpPr/>
          <p:nvPr/>
        </p:nvSpPr>
        <p:spPr>
          <a:xfrm>
            <a:off x="1325880" y="3520440"/>
            <a:ext cx="7406640" cy="292608"/>
          </a:xfrm>
          <a:prstGeom prst="rect">
            <a:avLst/>
          </a:prstGeom>
          <a:noFill/>
          <a:ln/>
        </p:spPr>
        <p:txBody>
          <a:bodyPr wrap="square" rtlCol="0" anchor="ctr"/>
          <a:lstStyle/>
          <a:p>
            <a:pPr indent="0" marL="0">
              <a:buNone/>
            </a:pPr>
            <a:r>
              <a:rPr lang="en-US" sz="1300" b="1" dirty="0">
                <a:solidFill>
                  <a:srgbClr val="FFFFFF"/>
                </a:solidFill>
              </a:rPr>
              <a:t>Email writing (qualified leads only)</a:t>
            </a:r>
            <a:endParaRPr lang="en-US" sz="1300" dirty="0"/>
          </a:p>
        </p:txBody>
      </p:sp>
      <p:sp>
        <p:nvSpPr>
          <p:cNvPr id="26" name="Text 24"/>
          <p:cNvSpPr/>
          <p:nvPr/>
        </p:nvSpPr>
        <p:spPr>
          <a:xfrm>
            <a:off x="1325880" y="3813048"/>
            <a:ext cx="7406640" cy="347472"/>
          </a:xfrm>
          <a:prstGeom prst="rect">
            <a:avLst/>
          </a:prstGeom>
          <a:noFill/>
          <a:ln/>
        </p:spPr>
        <p:txBody>
          <a:bodyPr wrap="square" rtlCol="0" anchor="ctr"/>
          <a:lstStyle/>
          <a:p>
            <a:pPr indent="0" marL="0">
              <a:buNone/>
            </a:pPr>
            <a:r>
              <a:rPr lang="en-US" sz="1050" dirty="0">
                <a:solidFill>
                  <a:srgbClr val="94A3B8"/>
                </a:solidFill>
              </a:rPr>
              <a:t>Claude Sonnet — the smarter, more expensive model — writes a fully personalised email for each qualified lead. Subject line, body, and 2 follow-ups. Each email references real things found on the company website. Not a template. A unique email per lead.</a:t>
            </a:r>
            <a:endParaRPr lang="en-US" sz="1050" dirty="0"/>
          </a:p>
        </p:txBody>
      </p:sp>
      <p:sp>
        <p:nvSpPr>
          <p:cNvPr id="27" name="Shape 25"/>
          <p:cNvSpPr/>
          <p:nvPr/>
        </p:nvSpPr>
        <p:spPr>
          <a:xfrm>
            <a:off x="722376" y="3794760"/>
            <a:ext cx="109728" cy="109728"/>
          </a:xfrm>
          <a:prstGeom prst="ellipse">
            <a:avLst/>
          </a:prstGeom>
          <a:solidFill>
            <a:srgbClr val="1A56DB"/>
          </a:solidFill>
          <a:ln/>
        </p:spPr>
      </p:sp>
      <p:sp>
        <p:nvSpPr>
          <p:cNvPr id="28" name="Shape 26"/>
          <p:cNvSpPr/>
          <p:nvPr/>
        </p:nvSpPr>
        <p:spPr>
          <a:xfrm>
            <a:off x="772668" y="3904488"/>
            <a:ext cx="0" cy="347472"/>
          </a:xfrm>
          <a:prstGeom prst="line">
            <a:avLst/>
          </a:prstGeom>
          <a:noFill/>
          <a:ln w="12700">
            <a:solidFill>
              <a:srgbClr val="1E3A5F"/>
            </a:solidFill>
            <a:prstDash val="dash"/>
          </a:ln>
        </p:spPr>
      </p:sp>
      <p:sp>
        <p:nvSpPr>
          <p:cNvPr id="29" name="Shape 27"/>
          <p:cNvSpPr/>
          <p:nvPr/>
        </p:nvSpPr>
        <p:spPr>
          <a:xfrm>
            <a:off x="411480" y="4206240"/>
            <a:ext cx="777240" cy="256032"/>
          </a:xfrm>
          <a:prstGeom prst="rect">
            <a:avLst/>
          </a:prstGeom>
          <a:solidFill>
            <a:srgbClr val="1A56DB">
              <a:alpha val="80000"/>
            </a:srgbClr>
          </a:solidFill>
          <a:ln w="6350">
            <a:solidFill>
              <a:srgbClr val="1A56DB"/>
            </a:solidFill>
            <a:prstDash val="solid"/>
          </a:ln>
        </p:spPr>
      </p:sp>
      <p:sp>
        <p:nvSpPr>
          <p:cNvPr id="30" name="Text 28"/>
          <p:cNvSpPr/>
          <p:nvPr/>
        </p:nvSpPr>
        <p:spPr>
          <a:xfrm>
            <a:off x="411480" y="4206240"/>
            <a:ext cx="777240" cy="256032"/>
          </a:xfrm>
          <a:prstGeom prst="rect">
            <a:avLst/>
          </a:prstGeom>
          <a:noFill/>
          <a:ln/>
        </p:spPr>
        <p:txBody>
          <a:bodyPr wrap="square" lIns="0" tIns="0" rIns="0" bIns="0" rtlCol="0" anchor="ctr"/>
          <a:lstStyle/>
          <a:p>
            <a:pPr algn="ctr" indent="0" marL="0">
              <a:buNone/>
            </a:pPr>
            <a:r>
              <a:rPr lang="en-US" sz="900" b="1" dirty="0">
                <a:solidFill>
                  <a:srgbClr val="93C5FD"/>
                </a:solidFill>
              </a:rPr>
              <a:t>Done</a:t>
            </a:r>
            <a:endParaRPr lang="en-US" sz="900" dirty="0"/>
          </a:p>
        </p:txBody>
      </p:sp>
      <p:sp>
        <p:nvSpPr>
          <p:cNvPr id="31" name="Text 29"/>
          <p:cNvSpPr/>
          <p:nvPr/>
        </p:nvSpPr>
        <p:spPr>
          <a:xfrm>
            <a:off x="1325880" y="4187952"/>
            <a:ext cx="7406640" cy="292608"/>
          </a:xfrm>
          <a:prstGeom prst="rect">
            <a:avLst/>
          </a:prstGeom>
          <a:noFill/>
          <a:ln/>
        </p:spPr>
        <p:txBody>
          <a:bodyPr wrap="square" rtlCol="0" anchor="ctr"/>
          <a:lstStyle/>
          <a:p>
            <a:pPr indent="0" marL="0">
              <a:buNone/>
            </a:pPr>
            <a:r>
              <a:rPr lang="en-US" sz="1300" b="1" dirty="0">
                <a:solidFill>
                  <a:srgbClr val="FFFFFF"/>
                </a:solidFill>
              </a:rPr>
              <a:t>Your lead list is ready</a:t>
            </a:r>
            <a:endParaRPr lang="en-US" sz="1300" dirty="0"/>
          </a:p>
        </p:txBody>
      </p:sp>
      <p:sp>
        <p:nvSpPr>
          <p:cNvPr id="32" name="Text 30"/>
          <p:cNvSpPr/>
          <p:nvPr/>
        </p:nvSpPr>
        <p:spPr>
          <a:xfrm>
            <a:off x="1325880" y="4480560"/>
            <a:ext cx="7406640" cy="347472"/>
          </a:xfrm>
          <a:prstGeom prst="rect">
            <a:avLst/>
          </a:prstGeom>
          <a:noFill/>
          <a:ln/>
        </p:spPr>
        <p:txBody>
          <a:bodyPr wrap="square" rtlCol="0" anchor="ctr"/>
          <a:lstStyle/>
          <a:p>
            <a:pPr indent="0" marL="0">
              <a:buNone/>
            </a:pPr>
            <a:r>
              <a:rPr lang="en-US" sz="1050" dirty="0">
                <a:solidFill>
                  <a:srgbClr val="94A3B8"/>
                </a:solidFill>
              </a:rPr>
              <a:t>Everything is saved to the Supabase database. Your dashboard updates. You review the emails, approve them, and launch a campaign — which sends from your own Gmail inbox, not from a shared platform.</a:t>
            </a:r>
            <a:endParaRPr lang="en-US" sz="1050" dirty="0"/>
          </a:p>
        </p:txBody>
      </p:sp>
      <p:sp>
        <p:nvSpPr>
          <p:cNvPr id="33" name="Shape 31"/>
          <p:cNvSpPr/>
          <p:nvPr/>
        </p:nvSpPr>
        <p:spPr>
          <a:xfrm>
            <a:off x="722376" y="4462272"/>
            <a:ext cx="109728" cy="109728"/>
          </a:xfrm>
          <a:prstGeom prst="ellipse">
            <a:avLst/>
          </a:prstGeom>
          <a:solidFill>
            <a:srgbClr val="1A56DB"/>
          </a:solidFill>
          <a:ln/>
        </p:spPr>
      </p:sp>
      <p:sp>
        <p:nvSpPr>
          <p:cNvPr id="34" name="Text 32"/>
          <p:cNvSpPr/>
          <p:nvPr/>
        </p:nvSpPr>
        <p:spPr>
          <a:xfrm>
            <a:off x="7132320" y="4919472"/>
            <a:ext cx="1828800" cy="182880"/>
          </a:xfrm>
          <a:prstGeom prst="rect">
            <a:avLst/>
          </a:prstGeom>
          <a:noFill/>
          <a:ln/>
        </p:spPr>
        <p:txBody>
          <a:bodyPr wrap="square" rtlCol="0" anchor="ctr"/>
          <a:lstStyle/>
          <a:p>
            <a:pPr algn="r" indent="0" marL="0">
              <a:buNone/>
            </a:pPr>
            <a:r>
              <a:rPr lang="en-US" sz="900" dirty="0">
                <a:solidFill>
                  <a:srgbClr val="334155"/>
                </a:solidFill>
              </a:rPr>
              <a:t>flowfiy.com  |  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A0F1E"/>
          </a:solidFill>
          <a:ln/>
        </p:spPr>
      </p:sp>
      <p:sp>
        <p:nvSpPr>
          <p:cNvPr id="3" name="Text 1"/>
          <p:cNvSpPr/>
          <p:nvPr/>
        </p:nvSpPr>
        <p:spPr>
          <a:xfrm>
            <a:off x="457200" y="0"/>
            <a:ext cx="8229600" cy="502920"/>
          </a:xfrm>
          <a:prstGeom prst="rect">
            <a:avLst/>
          </a:prstGeom>
          <a:noFill/>
          <a:ln/>
        </p:spPr>
        <p:txBody>
          <a:bodyPr wrap="square" rtlCol="0" anchor="ctr"/>
          <a:lstStyle/>
          <a:p>
            <a:pPr indent="0" marL="0">
              <a:buNone/>
            </a:pPr>
            <a:r>
              <a:rPr lang="en-US" sz="1100" b="1" spc="300" kern="0" dirty="0">
                <a:solidFill>
                  <a:srgbClr val="93C5FD"/>
                </a:solidFill>
              </a:rPr>
              <a:t>THE ECONOMICS</a:t>
            </a:r>
            <a:endParaRPr lang="en-US" sz="11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1E293B"/>
                </a:solidFill>
              </a:rPr>
              <a:t>Why the unit economics are exceptional</a:t>
            </a:r>
            <a:endParaRPr lang="en-US" sz="2600" dirty="0"/>
          </a:p>
        </p:txBody>
      </p:sp>
      <p:sp>
        <p:nvSpPr>
          <p:cNvPr id="5" name="Shape 3"/>
          <p:cNvSpPr/>
          <p:nvPr/>
        </p:nvSpPr>
        <p:spPr>
          <a:xfrm>
            <a:off x="411480" y="1280160"/>
            <a:ext cx="2651760" cy="1371600"/>
          </a:xfrm>
          <a:prstGeom prst="rect">
            <a:avLst/>
          </a:prstGeom>
          <a:solidFill>
            <a:srgbClr val="0A0F1E"/>
          </a:solidFill>
          <a:ln w="12700">
            <a:solidFill>
              <a:srgbClr val="1A56DB"/>
            </a:solidFill>
            <a:prstDash val="solid"/>
          </a:ln>
        </p:spPr>
      </p:sp>
      <p:sp>
        <p:nvSpPr>
          <p:cNvPr id="6" name="Shape 4"/>
          <p:cNvSpPr/>
          <p:nvPr/>
        </p:nvSpPr>
        <p:spPr>
          <a:xfrm>
            <a:off x="411480" y="1280160"/>
            <a:ext cx="2651760" cy="54864"/>
          </a:xfrm>
          <a:prstGeom prst="rect">
            <a:avLst/>
          </a:prstGeom>
          <a:solidFill>
            <a:srgbClr val="1A56DB"/>
          </a:solidFill>
          <a:ln/>
        </p:spPr>
      </p:sp>
      <p:sp>
        <p:nvSpPr>
          <p:cNvPr id="7" name="Text 5"/>
          <p:cNvSpPr/>
          <p:nvPr/>
        </p:nvSpPr>
        <p:spPr>
          <a:xfrm>
            <a:off x="411480" y="1417320"/>
            <a:ext cx="2651760" cy="640080"/>
          </a:xfrm>
          <a:prstGeom prst="rect">
            <a:avLst/>
          </a:prstGeom>
          <a:noFill/>
          <a:ln/>
        </p:spPr>
        <p:txBody>
          <a:bodyPr wrap="square" rtlCol="0" anchor="ctr"/>
          <a:lstStyle/>
          <a:p>
            <a:pPr algn="ctr" indent="0" marL="0">
              <a:buNone/>
            </a:pPr>
            <a:r>
              <a:rPr lang="en-US" sz="3600" b="1" dirty="0">
                <a:solidFill>
                  <a:srgbClr val="1A56DB"/>
                </a:solidFill>
              </a:rPr>
              <a:t>~$1.05</a:t>
            </a:r>
            <a:endParaRPr lang="en-US" sz="3600" dirty="0"/>
          </a:p>
        </p:txBody>
      </p:sp>
      <p:sp>
        <p:nvSpPr>
          <p:cNvPr id="8" name="Text 6"/>
          <p:cNvSpPr/>
          <p:nvPr/>
        </p:nvSpPr>
        <p:spPr>
          <a:xfrm>
            <a:off x="411480" y="2057400"/>
            <a:ext cx="2651760" cy="320040"/>
          </a:xfrm>
          <a:prstGeom prst="rect">
            <a:avLst/>
          </a:prstGeom>
          <a:noFill/>
          <a:ln/>
        </p:spPr>
        <p:txBody>
          <a:bodyPr wrap="square" rtlCol="0" anchor="ctr"/>
          <a:lstStyle/>
          <a:p>
            <a:pPr algn="ctr" indent="0" marL="0">
              <a:buNone/>
            </a:pPr>
            <a:r>
              <a:rPr lang="en-US" sz="1200" b="1" dirty="0">
                <a:solidFill>
                  <a:srgbClr val="FFFFFF"/>
                </a:solidFill>
              </a:rPr>
              <a:t>AI cost per 100 leads</a:t>
            </a:r>
            <a:endParaRPr lang="en-US" sz="1200" dirty="0"/>
          </a:p>
        </p:txBody>
      </p:sp>
      <p:sp>
        <p:nvSpPr>
          <p:cNvPr id="9" name="Text 7"/>
          <p:cNvSpPr/>
          <p:nvPr/>
        </p:nvSpPr>
        <p:spPr>
          <a:xfrm>
            <a:off x="411480" y="2377440"/>
            <a:ext cx="2651760" cy="256032"/>
          </a:xfrm>
          <a:prstGeom prst="rect">
            <a:avLst/>
          </a:prstGeom>
          <a:noFill/>
          <a:ln/>
        </p:spPr>
        <p:txBody>
          <a:bodyPr wrap="square" rtlCol="0" anchor="ctr"/>
          <a:lstStyle/>
          <a:p>
            <a:pPr algn="ctr" indent="0" marL="0">
              <a:buNone/>
            </a:pPr>
            <a:r>
              <a:rPr lang="en-US" sz="1000" i="1" dirty="0">
                <a:solidFill>
                  <a:srgbClr val="94A3B8"/>
                </a:solidFill>
              </a:rPr>
              <a:t>After prompt caching optimisation</a:t>
            </a:r>
            <a:endParaRPr lang="en-US" sz="1000" dirty="0"/>
          </a:p>
        </p:txBody>
      </p:sp>
      <p:sp>
        <p:nvSpPr>
          <p:cNvPr id="10" name="Shape 8"/>
          <p:cNvSpPr/>
          <p:nvPr/>
        </p:nvSpPr>
        <p:spPr>
          <a:xfrm>
            <a:off x="3291840" y="1280160"/>
            <a:ext cx="2651760" cy="1371600"/>
          </a:xfrm>
          <a:prstGeom prst="rect">
            <a:avLst/>
          </a:prstGeom>
          <a:solidFill>
            <a:srgbClr val="0A0F1E"/>
          </a:solidFill>
          <a:ln w="12700">
            <a:solidFill>
              <a:srgbClr val="10B981"/>
            </a:solidFill>
            <a:prstDash val="solid"/>
          </a:ln>
        </p:spPr>
      </p:sp>
      <p:sp>
        <p:nvSpPr>
          <p:cNvPr id="11" name="Shape 9"/>
          <p:cNvSpPr/>
          <p:nvPr/>
        </p:nvSpPr>
        <p:spPr>
          <a:xfrm>
            <a:off x="3291840" y="1280160"/>
            <a:ext cx="2651760" cy="54864"/>
          </a:xfrm>
          <a:prstGeom prst="rect">
            <a:avLst/>
          </a:prstGeom>
          <a:solidFill>
            <a:srgbClr val="10B981"/>
          </a:solidFill>
          <a:ln/>
        </p:spPr>
      </p:sp>
      <p:sp>
        <p:nvSpPr>
          <p:cNvPr id="12" name="Text 10"/>
          <p:cNvSpPr/>
          <p:nvPr/>
        </p:nvSpPr>
        <p:spPr>
          <a:xfrm>
            <a:off x="3291840" y="1417320"/>
            <a:ext cx="2651760" cy="640080"/>
          </a:xfrm>
          <a:prstGeom prst="rect">
            <a:avLst/>
          </a:prstGeom>
          <a:noFill/>
          <a:ln/>
        </p:spPr>
        <p:txBody>
          <a:bodyPr wrap="square" rtlCol="0" anchor="ctr"/>
          <a:lstStyle/>
          <a:p>
            <a:pPr algn="ctr" indent="0" marL="0">
              <a:buNone/>
            </a:pPr>
            <a:r>
              <a:rPr lang="en-US" sz="3600" b="1" dirty="0">
                <a:solidFill>
                  <a:srgbClr val="10B981"/>
                </a:solidFill>
              </a:rPr>
              <a:t>87–94%</a:t>
            </a:r>
            <a:endParaRPr lang="en-US" sz="3600" dirty="0"/>
          </a:p>
        </p:txBody>
      </p:sp>
      <p:sp>
        <p:nvSpPr>
          <p:cNvPr id="13" name="Text 11"/>
          <p:cNvSpPr/>
          <p:nvPr/>
        </p:nvSpPr>
        <p:spPr>
          <a:xfrm>
            <a:off x="3291840" y="2057400"/>
            <a:ext cx="2651760" cy="320040"/>
          </a:xfrm>
          <a:prstGeom prst="rect">
            <a:avLst/>
          </a:prstGeom>
          <a:noFill/>
          <a:ln/>
        </p:spPr>
        <p:txBody>
          <a:bodyPr wrap="square" rtlCol="0" anchor="ctr"/>
          <a:lstStyle/>
          <a:p>
            <a:pPr algn="ctr" indent="0" marL="0">
              <a:buNone/>
            </a:pPr>
            <a:r>
              <a:rPr lang="en-US" sz="1200" b="1" dirty="0">
                <a:solidFill>
                  <a:srgbClr val="FFFFFF"/>
                </a:solidFill>
              </a:rPr>
              <a:t>Gross margin</a:t>
            </a:r>
            <a:endParaRPr lang="en-US" sz="1200" dirty="0"/>
          </a:p>
        </p:txBody>
      </p:sp>
      <p:sp>
        <p:nvSpPr>
          <p:cNvPr id="14" name="Text 12"/>
          <p:cNvSpPr/>
          <p:nvPr/>
        </p:nvSpPr>
        <p:spPr>
          <a:xfrm>
            <a:off x="3291840" y="2377440"/>
            <a:ext cx="2651760" cy="256032"/>
          </a:xfrm>
          <a:prstGeom prst="rect">
            <a:avLst/>
          </a:prstGeom>
          <a:noFill/>
          <a:ln/>
        </p:spPr>
        <p:txBody>
          <a:bodyPr wrap="square" rtlCol="0" anchor="ctr"/>
          <a:lstStyle/>
          <a:p>
            <a:pPr algn="ctr" indent="0" marL="0">
              <a:buNone/>
            </a:pPr>
            <a:r>
              <a:rPr lang="en-US" sz="1000" i="1" dirty="0">
                <a:solidFill>
                  <a:srgbClr val="94A3B8"/>
                </a:solidFill>
              </a:rPr>
              <a:t>Even on Central API plans</a:t>
            </a:r>
            <a:endParaRPr lang="en-US" sz="1000" dirty="0"/>
          </a:p>
        </p:txBody>
      </p:sp>
      <p:sp>
        <p:nvSpPr>
          <p:cNvPr id="15" name="Shape 13"/>
          <p:cNvSpPr/>
          <p:nvPr/>
        </p:nvSpPr>
        <p:spPr>
          <a:xfrm>
            <a:off x="6172200" y="1280160"/>
            <a:ext cx="2651760" cy="1371600"/>
          </a:xfrm>
          <a:prstGeom prst="rect">
            <a:avLst/>
          </a:prstGeom>
          <a:solidFill>
            <a:srgbClr val="0A0F1E"/>
          </a:solidFill>
          <a:ln w="12700">
            <a:solidFill>
              <a:srgbClr val="8B5CF6"/>
            </a:solidFill>
            <a:prstDash val="solid"/>
          </a:ln>
        </p:spPr>
      </p:sp>
      <p:sp>
        <p:nvSpPr>
          <p:cNvPr id="16" name="Shape 14"/>
          <p:cNvSpPr/>
          <p:nvPr/>
        </p:nvSpPr>
        <p:spPr>
          <a:xfrm>
            <a:off x="6172200" y="1280160"/>
            <a:ext cx="2651760" cy="54864"/>
          </a:xfrm>
          <a:prstGeom prst="rect">
            <a:avLst/>
          </a:prstGeom>
          <a:solidFill>
            <a:srgbClr val="8B5CF6"/>
          </a:solidFill>
          <a:ln/>
        </p:spPr>
      </p:sp>
      <p:sp>
        <p:nvSpPr>
          <p:cNvPr id="17" name="Text 15"/>
          <p:cNvSpPr/>
          <p:nvPr/>
        </p:nvSpPr>
        <p:spPr>
          <a:xfrm>
            <a:off x="6172200" y="1417320"/>
            <a:ext cx="2651760" cy="640080"/>
          </a:xfrm>
          <a:prstGeom prst="rect">
            <a:avLst/>
          </a:prstGeom>
          <a:noFill/>
          <a:ln/>
        </p:spPr>
        <p:txBody>
          <a:bodyPr wrap="square" rtlCol="0" anchor="ctr"/>
          <a:lstStyle/>
          <a:p>
            <a:pPr algn="ctr" indent="0" marL="0">
              <a:buNone/>
            </a:pPr>
            <a:r>
              <a:rPr lang="en-US" sz="3600" b="1" dirty="0">
                <a:solidFill>
                  <a:srgbClr val="8B5CF6"/>
                </a:solidFill>
              </a:rPr>
              <a:t>~62%</a:t>
            </a:r>
            <a:endParaRPr lang="en-US" sz="3600" dirty="0"/>
          </a:p>
        </p:txBody>
      </p:sp>
      <p:sp>
        <p:nvSpPr>
          <p:cNvPr id="18" name="Text 16"/>
          <p:cNvSpPr/>
          <p:nvPr/>
        </p:nvSpPr>
        <p:spPr>
          <a:xfrm>
            <a:off x="6172200" y="2057400"/>
            <a:ext cx="2651760" cy="320040"/>
          </a:xfrm>
          <a:prstGeom prst="rect">
            <a:avLst/>
          </a:prstGeom>
          <a:noFill/>
          <a:ln/>
        </p:spPr>
        <p:txBody>
          <a:bodyPr wrap="square" rtlCol="0" anchor="ctr"/>
          <a:lstStyle/>
          <a:p>
            <a:pPr algn="ctr" indent="0" marL="0">
              <a:buNone/>
            </a:pPr>
            <a:r>
              <a:rPr lang="en-US" sz="1200" b="1" dirty="0">
                <a:solidFill>
                  <a:srgbClr val="FFFFFF"/>
                </a:solidFill>
              </a:rPr>
              <a:t>Token reduction</a:t>
            </a:r>
            <a:endParaRPr lang="en-US" sz="1200" dirty="0"/>
          </a:p>
        </p:txBody>
      </p:sp>
      <p:sp>
        <p:nvSpPr>
          <p:cNvPr id="19" name="Text 17"/>
          <p:cNvSpPr/>
          <p:nvPr/>
        </p:nvSpPr>
        <p:spPr>
          <a:xfrm>
            <a:off x="6172200" y="2377440"/>
            <a:ext cx="2651760" cy="256032"/>
          </a:xfrm>
          <a:prstGeom prst="rect">
            <a:avLst/>
          </a:prstGeom>
          <a:noFill/>
          <a:ln/>
        </p:spPr>
        <p:txBody>
          <a:bodyPr wrap="square" rtlCol="0" anchor="ctr"/>
          <a:lstStyle/>
          <a:p>
            <a:pPr algn="ctr" indent="0" marL="0">
              <a:buNone/>
            </a:pPr>
            <a:r>
              <a:rPr lang="en-US" sz="1000" i="1" dirty="0">
                <a:solidFill>
                  <a:srgbClr val="94A3B8"/>
                </a:solidFill>
              </a:rPr>
              <a:t>vs v1 — hard input caps in code</a:t>
            </a:r>
            <a:endParaRPr lang="en-US" sz="1000" dirty="0"/>
          </a:p>
        </p:txBody>
      </p:sp>
      <p:sp>
        <p:nvSpPr>
          <p:cNvPr id="20" name="Shape 18"/>
          <p:cNvSpPr/>
          <p:nvPr/>
        </p:nvSpPr>
        <p:spPr>
          <a:xfrm>
            <a:off x="411480" y="2834640"/>
            <a:ext cx="2057400" cy="420624"/>
          </a:xfrm>
          <a:prstGeom prst="rect">
            <a:avLst/>
          </a:prstGeom>
          <a:solidFill>
            <a:srgbClr val="0A0F1E"/>
          </a:solidFill>
          <a:ln w="6350">
            <a:solidFill>
              <a:srgbClr val="E2E8F0"/>
            </a:solidFill>
            <a:prstDash val="solid"/>
          </a:ln>
        </p:spPr>
      </p:sp>
      <p:sp>
        <p:nvSpPr>
          <p:cNvPr id="21" name="Text 19"/>
          <p:cNvSpPr/>
          <p:nvPr/>
        </p:nvSpPr>
        <p:spPr>
          <a:xfrm>
            <a:off x="502920" y="2834640"/>
            <a:ext cx="1920240" cy="420624"/>
          </a:xfrm>
          <a:prstGeom prst="rect">
            <a:avLst/>
          </a:prstGeom>
          <a:noFill/>
          <a:ln/>
        </p:spPr>
        <p:txBody>
          <a:bodyPr wrap="square" rtlCol="0" anchor="ctr"/>
          <a:lstStyle/>
          <a:p>
            <a:pPr indent="0" marL="0">
              <a:buNone/>
            </a:pPr>
            <a:r>
              <a:rPr lang="en-US" sz="1100" b="1" dirty="0">
                <a:solidFill>
                  <a:srgbClr val="FFFFFF"/>
                </a:solidFill>
              </a:rPr>
              <a:t>Model</a:t>
            </a:r>
            <a:endParaRPr lang="en-US" sz="1100" dirty="0"/>
          </a:p>
        </p:txBody>
      </p:sp>
      <p:sp>
        <p:nvSpPr>
          <p:cNvPr id="22" name="Shape 20"/>
          <p:cNvSpPr/>
          <p:nvPr/>
        </p:nvSpPr>
        <p:spPr>
          <a:xfrm>
            <a:off x="2496312" y="2834640"/>
            <a:ext cx="2057400" cy="420624"/>
          </a:xfrm>
          <a:prstGeom prst="rect">
            <a:avLst/>
          </a:prstGeom>
          <a:solidFill>
            <a:srgbClr val="0A0F1E"/>
          </a:solidFill>
          <a:ln w="6350">
            <a:solidFill>
              <a:srgbClr val="E2E8F0"/>
            </a:solidFill>
            <a:prstDash val="solid"/>
          </a:ln>
        </p:spPr>
      </p:sp>
      <p:sp>
        <p:nvSpPr>
          <p:cNvPr id="23" name="Text 21"/>
          <p:cNvSpPr/>
          <p:nvPr/>
        </p:nvSpPr>
        <p:spPr>
          <a:xfrm>
            <a:off x="2587752" y="2834640"/>
            <a:ext cx="1920240" cy="420624"/>
          </a:xfrm>
          <a:prstGeom prst="rect">
            <a:avLst/>
          </a:prstGeom>
          <a:noFill/>
          <a:ln/>
        </p:spPr>
        <p:txBody>
          <a:bodyPr wrap="square" rtlCol="0" anchor="ctr"/>
          <a:lstStyle/>
          <a:p>
            <a:pPr indent="0" marL="0">
              <a:buNone/>
            </a:pPr>
            <a:r>
              <a:rPr lang="en-US" sz="1100" b="1" dirty="0">
                <a:solidFill>
                  <a:srgbClr val="FFFFFF"/>
                </a:solidFill>
              </a:rPr>
              <a:t>Used for</a:t>
            </a:r>
            <a:endParaRPr lang="en-US" sz="1100" dirty="0"/>
          </a:p>
        </p:txBody>
      </p:sp>
      <p:sp>
        <p:nvSpPr>
          <p:cNvPr id="24" name="Shape 22"/>
          <p:cNvSpPr/>
          <p:nvPr/>
        </p:nvSpPr>
        <p:spPr>
          <a:xfrm>
            <a:off x="4581144" y="2834640"/>
            <a:ext cx="2057400" cy="420624"/>
          </a:xfrm>
          <a:prstGeom prst="rect">
            <a:avLst/>
          </a:prstGeom>
          <a:solidFill>
            <a:srgbClr val="0A0F1E"/>
          </a:solidFill>
          <a:ln w="6350">
            <a:solidFill>
              <a:srgbClr val="E2E8F0"/>
            </a:solidFill>
            <a:prstDash val="solid"/>
          </a:ln>
        </p:spPr>
      </p:sp>
      <p:sp>
        <p:nvSpPr>
          <p:cNvPr id="25" name="Text 23"/>
          <p:cNvSpPr/>
          <p:nvPr/>
        </p:nvSpPr>
        <p:spPr>
          <a:xfrm>
            <a:off x="4672584" y="2834640"/>
            <a:ext cx="1920240" cy="420624"/>
          </a:xfrm>
          <a:prstGeom prst="rect">
            <a:avLst/>
          </a:prstGeom>
          <a:noFill/>
          <a:ln/>
        </p:spPr>
        <p:txBody>
          <a:bodyPr wrap="square" rtlCol="0" anchor="ctr"/>
          <a:lstStyle/>
          <a:p>
            <a:pPr indent="0" marL="0">
              <a:buNone/>
            </a:pPr>
            <a:r>
              <a:rPr lang="en-US" sz="1100" b="1" dirty="0">
                <a:solidFill>
                  <a:srgbClr val="FFFFFF"/>
                </a:solidFill>
              </a:rPr>
              <a:t>Cost per 100 leads</a:t>
            </a:r>
            <a:endParaRPr lang="en-US" sz="1100" dirty="0"/>
          </a:p>
        </p:txBody>
      </p:sp>
      <p:sp>
        <p:nvSpPr>
          <p:cNvPr id="26" name="Shape 24"/>
          <p:cNvSpPr/>
          <p:nvPr/>
        </p:nvSpPr>
        <p:spPr>
          <a:xfrm>
            <a:off x="6665976" y="2834640"/>
            <a:ext cx="2057400" cy="420624"/>
          </a:xfrm>
          <a:prstGeom prst="rect">
            <a:avLst/>
          </a:prstGeom>
          <a:solidFill>
            <a:srgbClr val="0A0F1E"/>
          </a:solidFill>
          <a:ln w="6350">
            <a:solidFill>
              <a:srgbClr val="E2E8F0"/>
            </a:solidFill>
            <a:prstDash val="solid"/>
          </a:ln>
        </p:spPr>
      </p:sp>
      <p:sp>
        <p:nvSpPr>
          <p:cNvPr id="27" name="Text 25"/>
          <p:cNvSpPr/>
          <p:nvPr/>
        </p:nvSpPr>
        <p:spPr>
          <a:xfrm>
            <a:off x="6757416" y="2834640"/>
            <a:ext cx="1920240" cy="420624"/>
          </a:xfrm>
          <a:prstGeom prst="rect">
            <a:avLst/>
          </a:prstGeom>
          <a:noFill/>
          <a:ln/>
        </p:spPr>
        <p:txBody>
          <a:bodyPr wrap="square" rtlCol="0" anchor="ctr"/>
          <a:lstStyle/>
          <a:p>
            <a:pPr indent="0" marL="0">
              <a:buNone/>
            </a:pPr>
            <a:r>
              <a:rPr lang="en-US" sz="1100" b="1" dirty="0">
                <a:solidFill>
                  <a:srgbClr val="FFFFFF"/>
                </a:solidFill>
              </a:rPr>
              <a:t>Why this model?</a:t>
            </a:r>
            <a:endParaRPr lang="en-US" sz="1100" dirty="0"/>
          </a:p>
        </p:txBody>
      </p:sp>
      <p:sp>
        <p:nvSpPr>
          <p:cNvPr id="28" name="Shape 26"/>
          <p:cNvSpPr/>
          <p:nvPr/>
        </p:nvSpPr>
        <p:spPr>
          <a:xfrm>
            <a:off x="411480" y="3291840"/>
            <a:ext cx="2057400" cy="420624"/>
          </a:xfrm>
          <a:prstGeom prst="rect">
            <a:avLst/>
          </a:prstGeom>
          <a:solidFill>
            <a:srgbClr val="FFFFFF"/>
          </a:solidFill>
          <a:ln w="6350">
            <a:solidFill>
              <a:srgbClr val="E2E8F0"/>
            </a:solidFill>
            <a:prstDash val="solid"/>
          </a:ln>
        </p:spPr>
      </p:sp>
      <p:sp>
        <p:nvSpPr>
          <p:cNvPr id="29" name="Text 27"/>
          <p:cNvSpPr/>
          <p:nvPr/>
        </p:nvSpPr>
        <p:spPr>
          <a:xfrm>
            <a:off x="502920" y="3291840"/>
            <a:ext cx="1920240" cy="420624"/>
          </a:xfrm>
          <a:prstGeom prst="rect">
            <a:avLst/>
          </a:prstGeom>
          <a:noFill/>
          <a:ln/>
        </p:spPr>
        <p:txBody>
          <a:bodyPr wrap="square" rtlCol="0" anchor="ctr"/>
          <a:lstStyle/>
          <a:p>
            <a:pPr indent="0" marL="0">
              <a:buNone/>
            </a:pPr>
            <a:r>
              <a:rPr lang="en-US" sz="1050" dirty="0">
                <a:solidFill>
                  <a:srgbClr val="1E293B"/>
                </a:solidFill>
              </a:rPr>
              <a:t>Claude Haiku</a:t>
            </a:r>
            <a:endParaRPr lang="en-US" sz="1050" dirty="0"/>
          </a:p>
        </p:txBody>
      </p:sp>
      <p:sp>
        <p:nvSpPr>
          <p:cNvPr id="30" name="Shape 28"/>
          <p:cNvSpPr/>
          <p:nvPr/>
        </p:nvSpPr>
        <p:spPr>
          <a:xfrm>
            <a:off x="2496312" y="3291840"/>
            <a:ext cx="2057400" cy="420624"/>
          </a:xfrm>
          <a:prstGeom prst="rect">
            <a:avLst/>
          </a:prstGeom>
          <a:solidFill>
            <a:srgbClr val="FFFFFF"/>
          </a:solidFill>
          <a:ln w="6350">
            <a:solidFill>
              <a:srgbClr val="E2E8F0"/>
            </a:solidFill>
            <a:prstDash val="solid"/>
          </a:ln>
        </p:spPr>
      </p:sp>
      <p:sp>
        <p:nvSpPr>
          <p:cNvPr id="31" name="Text 29"/>
          <p:cNvSpPr/>
          <p:nvPr/>
        </p:nvSpPr>
        <p:spPr>
          <a:xfrm>
            <a:off x="2587752" y="3291840"/>
            <a:ext cx="1920240" cy="420624"/>
          </a:xfrm>
          <a:prstGeom prst="rect">
            <a:avLst/>
          </a:prstGeom>
          <a:noFill/>
          <a:ln/>
        </p:spPr>
        <p:txBody>
          <a:bodyPr wrap="square" rtlCol="0" anchor="ctr"/>
          <a:lstStyle/>
          <a:p>
            <a:pPr indent="0" marL="0">
              <a:buNone/>
            </a:pPr>
            <a:r>
              <a:rPr lang="en-US" sz="1050" dirty="0">
                <a:solidFill>
                  <a:srgbClr val="1E293B"/>
                </a:solidFill>
              </a:rPr>
              <a:t>Research, scoring (agents 1–4)</a:t>
            </a:r>
            <a:endParaRPr lang="en-US" sz="1050" dirty="0"/>
          </a:p>
        </p:txBody>
      </p:sp>
      <p:sp>
        <p:nvSpPr>
          <p:cNvPr id="32" name="Shape 30"/>
          <p:cNvSpPr/>
          <p:nvPr/>
        </p:nvSpPr>
        <p:spPr>
          <a:xfrm>
            <a:off x="4581144" y="3291840"/>
            <a:ext cx="2057400" cy="420624"/>
          </a:xfrm>
          <a:prstGeom prst="rect">
            <a:avLst/>
          </a:prstGeom>
          <a:solidFill>
            <a:srgbClr val="FFFFFF"/>
          </a:solidFill>
          <a:ln w="6350">
            <a:solidFill>
              <a:srgbClr val="E2E8F0"/>
            </a:solidFill>
            <a:prstDash val="solid"/>
          </a:ln>
        </p:spPr>
      </p:sp>
      <p:sp>
        <p:nvSpPr>
          <p:cNvPr id="33" name="Text 31"/>
          <p:cNvSpPr/>
          <p:nvPr/>
        </p:nvSpPr>
        <p:spPr>
          <a:xfrm>
            <a:off x="4672584" y="3291840"/>
            <a:ext cx="1920240" cy="420624"/>
          </a:xfrm>
          <a:prstGeom prst="rect">
            <a:avLst/>
          </a:prstGeom>
          <a:noFill/>
          <a:ln/>
        </p:spPr>
        <p:txBody>
          <a:bodyPr wrap="square" rtlCol="0" anchor="ctr"/>
          <a:lstStyle/>
          <a:p>
            <a:pPr indent="0" marL="0">
              <a:buNone/>
            </a:pPr>
            <a:r>
              <a:rPr lang="en-US" sz="1050" dirty="0">
                <a:solidFill>
                  <a:srgbClr val="1E293B"/>
                </a:solidFill>
              </a:rPr>
              <a:t>~$0.04</a:t>
            </a:r>
            <a:endParaRPr lang="en-US" sz="1050" dirty="0"/>
          </a:p>
        </p:txBody>
      </p:sp>
      <p:sp>
        <p:nvSpPr>
          <p:cNvPr id="34" name="Shape 32"/>
          <p:cNvSpPr/>
          <p:nvPr/>
        </p:nvSpPr>
        <p:spPr>
          <a:xfrm>
            <a:off x="6665976" y="3291840"/>
            <a:ext cx="2057400" cy="420624"/>
          </a:xfrm>
          <a:prstGeom prst="rect">
            <a:avLst/>
          </a:prstGeom>
          <a:solidFill>
            <a:srgbClr val="FFFFFF"/>
          </a:solidFill>
          <a:ln w="6350">
            <a:solidFill>
              <a:srgbClr val="E2E8F0"/>
            </a:solidFill>
            <a:prstDash val="solid"/>
          </a:ln>
        </p:spPr>
      </p:sp>
      <p:sp>
        <p:nvSpPr>
          <p:cNvPr id="35" name="Text 33"/>
          <p:cNvSpPr/>
          <p:nvPr/>
        </p:nvSpPr>
        <p:spPr>
          <a:xfrm>
            <a:off x="6757416" y="3291840"/>
            <a:ext cx="1920240" cy="420624"/>
          </a:xfrm>
          <a:prstGeom prst="rect">
            <a:avLst/>
          </a:prstGeom>
          <a:noFill/>
          <a:ln/>
        </p:spPr>
        <p:txBody>
          <a:bodyPr wrap="square" rtlCol="0" anchor="ctr"/>
          <a:lstStyle/>
          <a:p>
            <a:pPr indent="0" marL="0">
              <a:buNone/>
            </a:pPr>
            <a:r>
              <a:rPr lang="en-US" sz="1050" dirty="0">
                <a:solidFill>
                  <a:srgbClr val="1E293B"/>
                </a:solidFill>
              </a:rPr>
              <a:t>Fast and cheap — structured data extraction</a:t>
            </a:r>
            <a:endParaRPr lang="en-US" sz="1050" dirty="0"/>
          </a:p>
        </p:txBody>
      </p:sp>
      <p:sp>
        <p:nvSpPr>
          <p:cNvPr id="36" name="Shape 34"/>
          <p:cNvSpPr/>
          <p:nvPr/>
        </p:nvSpPr>
        <p:spPr>
          <a:xfrm>
            <a:off x="411480" y="3749040"/>
            <a:ext cx="2057400" cy="420624"/>
          </a:xfrm>
          <a:prstGeom prst="rect">
            <a:avLst/>
          </a:prstGeom>
          <a:solidFill>
            <a:srgbClr val="FFFFFF"/>
          </a:solidFill>
          <a:ln w="6350">
            <a:solidFill>
              <a:srgbClr val="E2E8F0"/>
            </a:solidFill>
            <a:prstDash val="solid"/>
          </a:ln>
        </p:spPr>
      </p:sp>
      <p:sp>
        <p:nvSpPr>
          <p:cNvPr id="37" name="Text 35"/>
          <p:cNvSpPr/>
          <p:nvPr/>
        </p:nvSpPr>
        <p:spPr>
          <a:xfrm>
            <a:off x="502920" y="3749040"/>
            <a:ext cx="1920240" cy="420624"/>
          </a:xfrm>
          <a:prstGeom prst="rect">
            <a:avLst/>
          </a:prstGeom>
          <a:noFill/>
          <a:ln/>
        </p:spPr>
        <p:txBody>
          <a:bodyPr wrap="square" rtlCol="0" anchor="ctr"/>
          <a:lstStyle/>
          <a:p>
            <a:pPr indent="0" marL="0">
              <a:buNone/>
            </a:pPr>
            <a:r>
              <a:rPr lang="en-US" sz="1050" dirty="0">
                <a:solidFill>
                  <a:srgbClr val="1E293B"/>
                </a:solidFill>
              </a:rPr>
              <a:t>Claude Sonnet</a:t>
            </a:r>
            <a:endParaRPr lang="en-US" sz="1050" dirty="0"/>
          </a:p>
        </p:txBody>
      </p:sp>
      <p:sp>
        <p:nvSpPr>
          <p:cNvPr id="38" name="Shape 36"/>
          <p:cNvSpPr/>
          <p:nvPr/>
        </p:nvSpPr>
        <p:spPr>
          <a:xfrm>
            <a:off x="2496312" y="3749040"/>
            <a:ext cx="2057400" cy="420624"/>
          </a:xfrm>
          <a:prstGeom prst="rect">
            <a:avLst/>
          </a:prstGeom>
          <a:solidFill>
            <a:srgbClr val="FFFFFF"/>
          </a:solidFill>
          <a:ln w="6350">
            <a:solidFill>
              <a:srgbClr val="E2E8F0"/>
            </a:solidFill>
            <a:prstDash val="solid"/>
          </a:ln>
        </p:spPr>
      </p:sp>
      <p:sp>
        <p:nvSpPr>
          <p:cNvPr id="39" name="Text 37"/>
          <p:cNvSpPr/>
          <p:nvPr/>
        </p:nvSpPr>
        <p:spPr>
          <a:xfrm>
            <a:off x="2587752" y="3749040"/>
            <a:ext cx="1920240" cy="420624"/>
          </a:xfrm>
          <a:prstGeom prst="rect">
            <a:avLst/>
          </a:prstGeom>
          <a:noFill/>
          <a:ln/>
        </p:spPr>
        <p:txBody>
          <a:bodyPr wrap="square" rtlCol="0" anchor="ctr"/>
          <a:lstStyle/>
          <a:p>
            <a:pPr indent="0" marL="0">
              <a:buNone/>
            </a:pPr>
            <a:r>
              <a:rPr lang="en-US" sz="1050" dirty="0">
                <a:solidFill>
                  <a:srgbClr val="1E293B"/>
                </a:solidFill>
              </a:rPr>
              <a:t>Email writing (agent 5, 50 leads)</a:t>
            </a:r>
            <a:endParaRPr lang="en-US" sz="1050" dirty="0"/>
          </a:p>
        </p:txBody>
      </p:sp>
      <p:sp>
        <p:nvSpPr>
          <p:cNvPr id="40" name="Shape 38"/>
          <p:cNvSpPr/>
          <p:nvPr/>
        </p:nvSpPr>
        <p:spPr>
          <a:xfrm>
            <a:off x="4581144" y="3749040"/>
            <a:ext cx="2057400" cy="420624"/>
          </a:xfrm>
          <a:prstGeom prst="rect">
            <a:avLst/>
          </a:prstGeom>
          <a:solidFill>
            <a:srgbClr val="FFFFFF"/>
          </a:solidFill>
          <a:ln w="6350">
            <a:solidFill>
              <a:srgbClr val="E2E8F0"/>
            </a:solidFill>
            <a:prstDash val="solid"/>
          </a:ln>
        </p:spPr>
      </p:sp>
      <p:sp>
        <p:nvSpPr>
          <p:cNvPr id="41" name="Text 39"/>
          <p:cNvSpPr/>
          <p:nvPr/>
        </p:nvSpPr>
        <p:spPr>
          <a:xfrm>
            <a:off x="4672584" y="3749040"/>
            <a:ext cx="1920240" cy="420624"/>
          </a:xfrm>
          <a:prstGeom prst="rect">
            <a:avLst/>
          </a:prstGeom>
          <a:noFill/>
          <a:ln/>
        </p:spPr>
        <p:txBody>
          <a:bodyPr wrap="square" rtlCol="0" anchor="ctr"/>
          <a:lstStyle/>
          <a:p>
            <a:pPr indent="0" marL="0">
              <a:buNone/>
            </a:pPr>
            <a:r>
              <a:rPr lang="en-US" sz="1050" dirty="0">
                <a:solidFill>
                  <a:srgbClr val="1E293B"/>
                </a:solidFill>
              </a:rPr>
              <a:t>~$1.01</a:t>
            </a:r>
            <a:endParaRPr lang="en-US" sz="1050" dirty="0"/>
          </a:p>
        </p:txBody>
      </p:sp>
      <p:sp>
        <p:nvSpPr>
          <p:cNvPr id="42" name="Shape 40"/>
          <p:cNvSpPr/>
          <p:nvPr/>
        </p:nvSpPr>
        <p:spPr>
          <a:xfrm>
            <a:off x="6665976" y="3749040"/>
            <a:ext cx="2057400" cy="420624"/>
          </a:xfrm>
          <a:prstGeom prst="rect">
            <a:avLst/>
          </a:prstGeom>
          <a:solidFill>
            <a:srgbClr val="FFFFFF"/>
          </a:solidFill>
          <a:ln w="6350">
            <a:solidFill>
              <a:srgbClr val="E2E8F0"/>
            </a:solidFill>
            <a:prstDash val="solid"/>
          </a:ln>
        </p:spPr>
      </p:sp>
      <p:sp>
        <p:nvSpPr>
          <p:cNvPr id="43" name="Text 41"/>
          <p:cNvSpPr/>
          <p:nvPr/>
        </p:nvSpPr>
        <p:spPr>
          <a:xfrm>
            <a:off x="6757416" y="3749040"/>
            <a:ext cx="1920240" cy="420624"/>
          </a:xfrm>
          <a:prstGeom prst="rect">
            <a:avLst/>
          </a:prstGeom>
          <a:noFill/>
          <a:ln/>
        </p:spPr>
        <p:txBody>
          <a:bodyPr wrap="square" rtlCol="0" anchor="ctr"/>
          <a:lstStyle/>
          <a:p>
            <a:pPr indent="0" marL="0">
              <a:buNone/>
            </a:pPr>
            <a:r>
              <a:rPr lang="en-US" sz="1050" dirty="0">
                <a:solidFill>
                  <a:srgbClr val="1E293B"/>
                </a:solidFill>
              </a:rPr>
              <a:t>Creative writing needs the smarter model</a:t>
            </a:r>
            <a:endParaRPr lang="en-US" sz="1050" dirty="0"/>
          </a:p>
        </p:txBody>
      </p:sp>
      <p:sp>
        <p:nvSpPr>
          <p:cNvPr id="44" name="Shape 42"/>
          <p:cNvSpPr/>
          <p:nvPr/>
        </p:nvSpPr>
        <p:spPr>
          <a:xfrm>
            <a:off x="411480" y="4206240"/>
            <a:ext cx="2057400" cy="420624"/>
          </a:xfrm>
          <a:prstGeom prst="rect">
            <a:avLst/>
          </a:prstGeom>
          <a:solidFill>
            <a:srgbClr val="EFF6FF"/>
          </a:solidFill>
          <a:ln w="6350">
            <a:solidFill>
              <a:srgbClr val="E2E8F0"/>
            </a:solidFill>
            <a:prstDash val="solid"/>
          </a:ln>
        </p:spPr>
      </p:sp>
      <p:sp>
        <p:nvSpPr>
          <p:cNvPr id="45" name="Text 43"/>
          <p:cNvSpPr/>
          <p:nvPr/>
        </p:nvSpPr>
        <p:spPr>
          <a:xfrm>
            <a:off x="502920" y="4206240"/>
            <a:ext cx="1920240" cy="420624"/>
          </a:xfrm>
          <a:prstGeom prst="rect">
            <a:avLst/>
          </a:prstGeom>
          <a:noFill/>
          <a:ln/>
        </p:spPr>
        <p:txBody>
          <a:bodyPr wrap="square" rtlCol="0" anchor="ctr"/>
          <a:lstStyle/>
          <a:p>
            <a:pPr indent="0" marL="0">
              <a:buNone/>
            </a:pPr>
            <a:r>
              <a:rPr lang="en-US" sz="1050" b="1" dirty="0">
                <a:solidFill>
                  <a:srgbClr val="1E3A8A"/>
                </a:solidFill>
              </a:rPr>
              <a:t>Total</a:t>
            </a:r>
            <a:endParaRPr lang="en-US" sz="1050" dirty="0"/>
          </a:p>
        </p:txBody>
      </p:sp>
      <p:sp>
        <p:nvSpPr>
          <p:cNvPr id="46" name="Shape 44"/>
          <p:cNvSpPr/>
          <p:nvPr/>
        </p:nvSpPr>
        <p:spPr>
          <a:xfrm>
            <a:off x="2496312" y="4206240"/>
            <a:ext cx="2057400" cy="420624"/>
          </a:xfrm>
          <a:prstGeom prst="rect">
            <a:avLst/>
          </a:prstGeom>
          <a:solidFill>
            <a:srgbClr val="EFF6FF"/>
          </a:solidFill>
          <a:ln w="6350">
            <a:solidFill>
              <a:srgbClr val="E2E8F0"/>
            </a:solidFill>
            <a:prstDash val="solid"/>
          </a:ln>
        </p:spPr>
      </p:sp>
      <p:sp>
        <p:nvSpPr>
          <p:cNvPr id="47" name="Text 45"/>
          <p:cNvSpPr/>
          <p:nvPr/>
        </p:nvSpPr>
        <p:spPr>
          <a:xfrm>
            <a:off x="2587752" y="4206240"/>
            <a:ext cx="1920240" cy="420624"/>
          </a:xfrm>
          <a:prstGeom prst="rect">
            <a:avLst/>
          </a:prstGeom>
          <a:noFill/>
          <a:ln/>
        </p:spPr>
        <p:txBody>
          <a:bodyPr wrap="square" rtlCol="0" anchor="ctr"/>
          <a:lstStyle/>
          <a:p>
            <a:pPr indent="0" marL="0">
              <a:buNone/>
            </a:pPr>
            <a:r>
              <a:rPr lang="en-US" sz="1050" b="1" dirty="0">
                <a:solidFill>
                  <a:srgbClr val="1E3A8A"/>
                </a:solidFill>
              </a:rPr>
              <a:t>Full 100-lead run</a:t>
            </a:r>
            <a:endParaRPr lang="en-US" sz="1050" dirty="0"/>
          </a:p>
        </p:txBody>
      </p:sp>
      <p:sp>
        <p:nvSpPr>
          <p:cNvPr id="48" name="Shape 46"/>
          <p:cNvSpPr/>
          <p:nvPr/>
        </p:nvSpPr>
        <p:spPr>
          <a:xfrm>
            <a:off x="4581144" y="4206240"/>
            <a:ext cx="2057400" cy="420624"/>
          </a:xfrm>
          <a:prstGeom prst="rect">
            <a:avLst/>
          </a:prstGeom>
          <a:solidFill>
            <a:srgbClr val="EFF6FF"/>
          </a:solidFill>
          <a:ln w="6350">
            <a:solidFill>
              <a:srgbClr val="E2E8F0"/>
            </a:solidFill>
            <a:prstDash val="solid"/>
          </a:ln>
        </p:spPr>
      </p:sp>
      <p:sp>
        <p:nvSpPr>
          <p:cNvPr id="49" name="Text 47"/>
          <p:cNvSpPr/>
          <p:nvPr/>
        </p:nvSpPr>
        <p:spPr>
          <a:xfrm>
            <a:off x="4672584" y="4206240"/>
            <a:ext cx="1920240" cy="420624"/>
          </a:xfrm>
          <a:prstGeom prst="rect">
            <a:avLst/>
          </a:prstGeom>
          <a:noFill/>
          <a:ln/>
        </p:spPr>
        <p:txBody>
          <a:bodyPr wrap="square" rtlCol="0" anchor="ctr"/>
          <a:lstStyle/>
          <a:p>
            <a:pPr indent="0" marL="0">
              <a:buNone/>
            </a:pPr>
            <a:r>
              <a:rPr lang="en-US" sz="1050" b="1" dirty="0">
                <a:solidFill>
                  <a:srgbClr val="1E3A8A"/>
                </a:solidFill>
              </a:rPr>
              <a:t>~$1.05</a:t>
            </a:r>
            <a:endParaRPr lang="en-US" sz="1050" dirty="0"/>
          </a:p>
        </p:txBody>
      </p:sp>
      <p:sp>
        <p:nvSpPr>
          <p:cNvPr id="50" name="Shape 48"/>
          <p:cNvSpPr/>
          <p:nvPr/>
        </p:nvSpPr>
        <p:spPr>
          <a:xfrm>
            <a:off x="6665976" y="4206240"/>
            <a:ext cx="2057400" cy="420624"/>
          </a:xfrm>
          <a:prstGeom prst="rect">
            <a:avLst/>
          </a:prstGeom>
          <a:solidFill>
            <a:srgbClr val="EFF6FF"/>
          </a:solidFill>
          <a:ln w="6350">
            <a:solidFill>
              <a:srgbClr val="E2E8F0"/>
            </a:solidFill>
            <a:prstDash val="solid"/>
          </a:ln>
        </p:spPr>
      </p:sp>
      <p:sp>
        <p:nvSpPr>
          <p:cNvPr id="51" name="Text 49"/>
          <p:cNvSpPr/>
          <p:nvPr/>
        </p:nvSpPr>
        <p:spPr>
          <a:xfrm>
            <a:off x="6757416" y="4206240"/>
            <a:ext cx="1920240" cy="420624"/>
          </a:xfrm>
          <a:prstGeom prst="rect">
            <a:avLst/>
          </a:prstGeom>
          <a:noFill/>
          <a:ln/>
        </p:spPr>
        <p:txBody>
          <a:bodyPr wrap="square" rtlCol="0" anchor="ctr"/>
          <a:lstStyle/>
          <a:p>
            <a:pPr indent="0" marL="0">
              <a:buNone/>
            </a:pPr>
            <a:r>
              <a:rPr lang="en-US" sz="1050" b="1" dirty="0">
                <a:solidFill>
                  <a:srgbClr val="1E3A8A"/>
                </a:solidFill>
              </a:rPr>
              <a:t>~$0.011 per lead — 59% cheaper than v1</a:t>
            </a:r>
            <a:endParaRPr lang="en-US" sz="1050" dirty="0"/>
          </a:p>
        </p:txBody>
      </p:sp>
      <p:sp>
        <p:nvSpPr>
          <p:cNvPr id="52" name="Shape 50"/>
          <p:cNvSpPr/>
          <p:nvPr/>
        </p:nvSpPr>
        <p:spPr>
          <a:xfrm>
            <a:off x="411480" y="4645152"/>
            <a:ext cx="8321040" cy="292608"/>
          </a:xfrm>
          <a:prstGeom prst="rect">
            <a:avLst/>
          </a:prstGeom>
          <a:solidFill>
            <a:srgbClr val="FFFBEB"/>
          </a:solidFill>
          <a:ln w="6350">
            <a:solidFill>
              <a:srgbClr val="FDE68A"/>
            </a:solidFill>
            <a:prstDash val="solid"/>
          </a:ln>
        </p:spPr>
      </p:sp>
      <p:sp>
        <p:nvSpPr>
          <p:cNvPr id="53" name="Text 51"/>
          <p:cNvSpPr/>
          <p:nvPr/>
        </p:nvSpPr>
        <p:spPr>
          <a:xfrm>
            <a:off x="502920" y="4645152"/>
            <a:ext cx="8229600" cy="292608"/>
          </a:xfrm>
          <a:prstGeom prst="rect">
            <a:avLst/>
          </a:prstGeom>
          <a:noFill/>
          <a:ln/>
        </p:spPr>
        <p:txBody>
          <a:bodyPr wrap="square" rtlCol="0" anchor="ctr"/>
          <a:lstStyle/>
          <a:p>
            <a:pPr indent="0" marL="0">
              <a:buNone/>
            </a:pPr>
            <a:r>
              <a:rPr lang="en-US" sz="1000" dirty="0">
                <a:solidFill>
                  <a:srgbClr val="92400E"/>
                </a:solidFill>
              </a:rPr>
              <a:t>⚡  FREE and INDIE plan users supply their own Anthropic key — $0 AI cost to Flowfiy on those plans. 55% of users are BYOK.</a:t>
            </a:r>
            <a:endParaRPr lang="en-US" sz="1000" dirty="0"/>
          </a:p>
        </p:txBody>
      </p:sp>
      <p:sp>
        <p:nvSpPr>
          <p:cNvPr id="54" name="Text 52"/>
          <p:cNvSpPr/>
          <p:nvPr/>
        </p:nvSpPr>
        <p:spPr>
          <a:xfrm>
            <a:off x="6400800" y="4910328"/>
            <a:ext cx="2560320" cy="228600"/>
          </a:xfrm>
          <a:prstGeom prst="rect">
            <a:avLst/>
          </a:prstGeom>
          <a:noFill/>
          <a:ln/>
        </p:spPr>
        <p:txBody>
          <a:bodyPr wrap="square" rtlCol="0" anchor="ctr"/>
          <a:lstStyle/>
          <a:p>
            <a:pPr algn="r" indent="0" marL="0">
              <a:buNone/>
            </a:pPr>
            <a:r>
              <a:rPr lang="en-US" sz="900" dirty="0">
                <a:solidFill>
                  <a:srgbClr val="94A3B8"/>
                </a:solidFill>
              </a:rPr>
              <a:t>flowfiy.com  |  Confidential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p:spPr>
      </p:sp>
      <p:sp>
        <p:nvSpPr>
          <p:cNvPr id="3" name="Text 1"/>
          <p:cNvSpPr/>
          <p:nvPr/>
        </p:nvSpPr>
        <p:spPr>
          <a:xfrm>
            <a:off x="457200" y="0"/>
            <a:ext cx="8229600" cy="502920"/>
          </a:xfrm>
          <a:prstGeom prst="rect">
            <a:avLst/>
          </a:prstGeom>
          <a:noFill/>
          <a:ln/>
        </p:spPr>
        <p:txBody>
          <a:bodyPr wrap="square" rtlCol="0" anchor="ctr"/>
          <a:lstStyle/>
          <a:p>
            <a:pPr indent="0" marL="0">
              <a:buNone/>
            </a:pPr>
            <a:r>
              <a:rPr lang="en-US" sz="1100" b="1" spc="300" kern="0" dirty="0">
                <a:solidFill>
                  <a:srgbClr val="93C5FD"/>
                </a:solidFill>
              </a:rPr>
              <a:t>SECURITY &amp; QUALITY</a:t>
            </a:r>
            <a:endParaRPr lang="en-US" sz="1100" dirty="0"/>
          </a:p>
        </p:txBody>
      </p:sp>
      <p:sp>
        <p:nvSpPr>
          <p:cNvPr id="4" name="Text 2"/>
          <p:cNvSpPr/>
          <p:nvPr/>
        </p:nvSpPr>
        <p:spPr>
          <a:xfrm>
            <a:off x="457200" y="640080"/>
            <a:ext cx="8229600" cy="548640"/>
          </a:xfrm>
          <a:prstGeom prst="rect">
            <a:avLst/>
          </a:prstGeom>
          <a:noFill/>
          <a:ln/>
        </p:spPr>
        <p:txBody>
          <a:bodyPr wrap="square" rtlCol="0" anchor="ctr"/>
          <a:lstStyle/>
          <a:p>
            <a:pPr indent="0" marL="0">
              <a:buNone/>
            </a:pPr>
            <a:r>
              <a:rPr lang="en-US" sz="2600" b="1" dirty="0">
                <a:solidFill>
                  <a:srgbClr val="FFFFFF"/>
                </a:solidFill>
              </a:rPr>
              <a:t>Built for production from day one</a:t>
            </a:r>
            <a:endParaRPr lang="en-US" sz="2600" dirty="0"/>
          </a:p>
        </p:txBody>
      </p:sp>
      <p:sp>
        <p:nvSpPr>
          <p:cNvPr id="5" name="Shape 3"/>
          <p:cNvSpPr/>
          <p:nvPr/>
        </p:nvSpPr>
        <p:spPr>
          <a:xfrm>
            <a:off x="411480" y="1325880"/>
            <a:ext cx="4069080" cy="1508760"/>
          </a:xfrm>
          <a:prstGeom prst="rect">
            <a:avLst/>
          </a:prstGeom>
          <a:solidFill>
            <a:srgbClr val="0D1B3E"/>
          </a:solidFill>
          <a:ln w="10160">
            <a:solidFill>
              <a:srgbClr val="1A56DB"/>
            </a:solidFill>
            <a:prstDash val="solid"/>
          </a:ln>
        </p:spPr>
      </p:sp>
      <p:sp>
        <p:nvSpPr>
          <p:cNvPr id="6" name="Shape 4"/>
          <p:cNvSpPr/>
          <p:nvPr/>
        </p:nvSpPr>
        <p:spPr>
          <a:xfrm>
            <a:off x="411480" y="1325880"/>
            <a:ext cx="4069080" cy="54864"/>
          </a:xfrm>
          <a:prstGeom prst="rect">
            <a:avLst/>
          </a:prstGeom>
          <a:solidFill>
            <a:srgbClr val="1A56DB"/>
          </a:solidFill>
          <a:ln/>
        </p:spPr>
      </p:sp>
      <p:sp>
        <p:nvSpPr>
          <p:cNvPr id="7" name="Text 5"/>
          <p:cNvSpPr/>
          <p:nvPr/>
        </p:nvSpPr>
        <p:spPr>
          <a:xfrm>
            <a:off x="548640" y="1435608"/>
            <a:ext cx="3794760" cy="320040"/>
          </a:xfrm>
          <a:prstGeom prst="rect">
            <a:avLst/>
          </a:prstGeom>
          <a:noFill/>
          <a:ln/>
        </p:spPr>
        <p:txBody>
          <a:bodyPr wrap="square" rtlCol="0" anchor="ctr"/>
          <a:lstStyle/>
          <a:p>
            <a:pPr indent="0" marL="0">
              <a:buNone/>
            </a:pPr>
            <a:r>
              <a:rPr lang="en-US" sz="1300" b="1" dirty="0">
                <a:solidFill>
                  <a:srgbClr val="FFFFFF"/>
                </a:solidFill>
              </a:rPr>
              <a:t>AES-256-GCM encryption</a:t>
            </a:r>
            <a:endParaRPr lang="en-US" sz="1300" dirty="0"/>
          </a:p>
        </p:txBody>
      </p:sp>
      <p:sp>
        <p:nvSpPr>
          <p:cNvPr id="8" name="Text 6"/>
          <p:cNvSpPr/>
          <p:nvPr/>
        </p:nvSpPr>
        <p:spPr>
          <a:xfrm>
            <a:off x="548640" y="1764792"/>
            <a:ext cx="3794760" cy="1005840"/>
          </a:xfrm>
          <a:prstGeom prst="rect">
            <a:avLst/>
          </a:prstGeom>
          <a:noFill/>
          <a:ln/>
        </p:spPr>
        <p:txBody>
          <a:bodyPr wrap="square" rtlCol="0" anchor="ctr"/>
          <a:lstStyle/>
          <a:p>
            <a:pPr indent="0" marL="0">
              <a:buNone/>
            </a:pPr>
            <a:r>
              <a:rPr lang="en-US" sz="1050" dirty="0">
                <a:solidFill>
                  <a:srgbClr val="94A3B8"/>
                </a:solidFill>
              </a:rPr>
              <a:t>Every API key you store — Apollo, Apify, Gmail, Anthropic — is encrypted with military-grade AES-256-GCM before it touches the database. The encryption key never leaves the server. A database breach exposes nothing usable.</a:t>
            </a:r>
            <a:endParaRPr lang="en-US" sz="1050" dirty="0"/>
          </a:p>
        </p:txBody>
      </p:sp>
      <p:sp>
        <p:nvSpPr>
          <p:cNvPr id="9" name="Shape 7"/>
          <p:cNvSpPr/>
          <p:nvPr/>
        </p:nvSpPr>
        <p:spPr>
          <a:xfrm>
            <a:off x="4754880" y="1325880"/>
            <a:ext cx="4069080" cy="1508760"/>
          </a:xfrm>
          <a:prstGeom prst="rect">
            <a:avLst/>
          </a:prstGeom>
          <a:solidFill>
            <a:srgbClr val="0D1B3E"/>
          </a:solidFill>
          <a:ln w="10160">
            <a:solidFill>
              <a:srgbClr val="0EA5E9"/>
            </a:solidFill>
            <a:prstDash val="solid"/>
          </a:ln>
        </p:spPr>
      </p:sp>
      <p:sp>
        <p:nvSpPr>
          <p:cNvPr id="10" name="Shape 8"/>
          <p:cNvSpPr/>
          <p:nvPr/>
        </p:nvSpPr>
        <p:spPr>
          <a:xfrm>
            <a:off x="4754880" y="1325880"/>
            <a:ext cx="4069080" cy="54864"/>
          </a:xfrm>
          <a:prstGeom prst="rect">
            <a:avLst/>
          </a:prstGeom>
          <a:solidFill>
            <a:srgbClr val="0EA5E9"/>
          </a:solidFill>
          <a:ln/>
        </p:spPr>
      </p:sp>
      <p:sp>
        <p:nvSpPr>
          <p:cNvPr id="11" name="Text 9"/>
          <p:cNvSpPr/>
          <p:nvPr/>
        </p:nvSpPr>
        <p:spPr>
          <a:xfrm>
            <a:off x="4892040" y="1435608"/>
            <a:ext cx="3794760" cy="320040"/>
          </a:xfrm>
          <a:prstGeom prst="rect">
            <a:avLst/>
          </a:prstGeom>
          <a:noFill/>
          <a:ln/>
        </p:spPr>
        <p:txBody>
          <a:bodyPr wrap="square" rtlCol="0" anchor="ctr"/>
          <a:lstStyle/>
          <a:p>
            <a:pPr indent="0" marL="0">
              <a:buNone/>
            </a:pPr>
            <a:r>
              <a:rPr lang="en-US" sz="1300" b="1" dirty="0">
                <a:solidFill>
                  <a:srgbClr val="FFFFFF"/>
                </a:solidFill>
              </a:rPr>
              <a:t>Multi-tenant isolation</a:t>
            </a:r>
            <a:endParaRPr lang="en-US" sz="1300" dirty="0"/>
          </a:p>
        </p:txBody>
      </p:sp>
      <p:sp>
        <p:nvSpPr>
          <p:cNvPr id="12" name="Text 10"/>
          <p:cNvSpPr/>
          <p:nvPr/>
        </p:nvSpPr>
        <p:spPr>
          <a:xfrm>
            <a:off x="4892040" y="1764792"/>
            <a:ext cx="3794760" cy="1005840"/>
          </a:xfrm>
          <a:prstGeom prst="rect">
            <a:avLst/>
          </a:prstGeom>
          <a:noFill/>
          <a:ln/>
        </p:spPr>
        <p:txBody>
          <a:bodyPr wrap="square" rtlCol="0" anchor="ctr"/>
          <a:lstStyle/>
          <a:p>
            <a:pPr indent="0" marL="0">
              <a:buNone/>
            </a:pPr>
            <a:r>
              <a:rPr lang="en-US" sz="1050" dirty="0">
                <a:solidFill>
                  <a:srgbClr val="94A3B8"/>
                </a:solidFill>
              </a:rPr>
              <a:t>Your data and another company's data never mix. Every database query includes your organisation ID, enforced by Row Level Security at the Supabase layer — a separate lock that works even if there's a bug in the application code.</a:t>
            </a:r>
            <a:endParaRPr lang="en-US" sz="1050" dirty="0"/>
          </a:p>
        </p:txBody>
      </p:sp>
      <p:sp>
        <p:nvSpPr>
          <p:cNvPr id="13" name="Shape 11"/>
          <p:cNvSpPr/>
          <p:nvPr/>
        </p:nvSpPr>
        <p:spPr>
          <a:xfrm>
            <a:off x="411480" y="3017520"/>
            <a:ext cx="4069080" cy="1508760"/>
          </a:xfrm>
          <a:prstGeom prst="rect">
            <a:avLst/>
          </a:prstGeom>
          <a:solidFill>
            <a:srgbClr val="0D1B3E"/>
          </a:solidFill>
          <a:ln w="10160">
            <a:solidFill>
              <a:srgbClr val="8B5CF6"/>
            </a:solidFill>
            <a:prstDash val="solid"/>
          </a:ln>
        </p:spPr>
      </p:sp>
      <p:sp>
        <p:nvSpPr>
          <p:cNvPr id="14" name="Shape 12"/>
          <p:cNvSpPr/>
          <p:nvPr/>
        </p:nvSpPr>
        <p:spPr>
          <a:xfrm>
            <a:off x="411480" y="3017520"/>
            <a:ext cx="4069080" cy="54864"/>
          </a:xfrm>
          <a:prstGeom prst="rect">
            <a:avLst/>
          </a:prstGeom>
          <a:solidFill>
            <a:srgbClr val="8B5CF6"/>
          </a:solidFill>
          <a:ln/>
        </p:spPr>
      </p:sp>
      <p:sp>
        <p:nvSpPr>
          <p:cNvPr id="15" name="Text 13"/>
          <p:cNvSpPr/>
          <p:nvPr/>
        </p:nvSpPr>
        <p:spPr>
          <a:xfrm>
            <a:off x="548640" y="3127248"/>
            <a:ext cx="3794760" cy="320040"/>
          </a:xfrm>
          <a:prstGeom prst="rect">
            <a:avLst/>
          </a:prstGeom>
          <a:noFill/>
          <a:ln/>
        </p:spPr>
        <p:txBody>
          <a:bodyPr wrap="square" rtlCol="0" anchor="ctr"/>
          <a:lstStyle/>
          <a:p>
            <a:pPr indent="0" marL="0">
              <a:buNone/>
            </a:pPr>
            <a:r>
              <a:rPr lang="en-US" sz="1300" b="1" dirty="0">
                <a:solidFill>
                  <a:srgbClr val="FFFFFF"/>
                </a:solidFill>
              </a:rPr>
              <a:t>Fault-tolerant pipeline</a:t>
            </a:r>
            <a:endParaRPr lang="en-US" sz="1300" dirty="0"/>
          </a:p>
        </p:txBody>
      </p:sp>
      <p:sp>
        <p:nvSpPr>
          <p:cNvPr id="16" name="Text 14"/>
          <p:cNvSpPr/>
          <p:nvPr/>
        </p:nvSpPr>
        <p:spPr>
          <a:xfrm>
            <a:off x="548640" y="3456432"/>
            <a:ext cx="3794760" cy="1005840"/>
          </a:xfrm>
          <a:prstGeom prst="rect">
            <a:avLst/>
          </a:prstGeom>
          <a:noFill/>
          <a:ln/>
        </p:spPr>
        <p:txBody>
          <a:bodyPr wrap="square" rtlCol="0" anchor="ctr"/>
          <a:lstStyle/>
          <a:p>
            <a:pPr indent="0" marL="0">
              <a:buNone/>
            </a:pPr>
            <a:r>
              <a:rPr lang="en-US" sz="1050" dirty="0">
                <a:solidFill>
                  <a:srgbClr val="94A3B8"/>
                </a:solidFill>
              </a:rPr>
              <a:t>If one lead fails to process — bad website, API timeout, Claude error — only that lead is marked failed. The other 49 continue. Every job stage has automatic retry logic with exponential backoff. Nothing brings down the whole run.</a:t>
            </a:r>
            <a:endParaRPr lang="en-US" sz="1050" dirty="0"/>
          </a:p>
        </p:txBody>
      </p:sp>
      <p:sp>
        <p:nvSpPr>
          <p:cNvPr id="17" name="Shape 15"/>
          <p:cNvSpPr/>
          <p:nvPr/>
        </p:nvSpPr>
        <p:spPr>
          <a:xfrm>
            <a:off x="4754880" y="3017520"/>
            <a:ext cx="4069080" cy="1508760"/>
          </a:xfrm>
          <a:prstGeom prst="rect">
            <a:avLst/>
          </a:prstGeom>
          <a:solidFill>
            <a:srgbClr val="0D1B3E"/>
          </a:solidFill>
          <a:ln w="10160">
            <a:solidFill>
              <a:srgbClr val="F59E0B"/>
            </a:solidFill>
            <a:prstDash val="solid"/>
          </a:ln>
        </p:spPr>
      </p:sp>
      <p:sp>
        <p:nvSpPr>
          <p:cNvPr id="18" name="Shape 16"/>
          <p:cNvSpPr/>
          <p:nvPr/>
        </p:nvSpPr>
        <p:spPr>
          <a:xfrm>
            <a:off x="4754880" y="3017520"/>
            <a:ext cx="4069080" cy="54864"/>
          </a:xfrm>
          <a:prstGeom prst="rect">
            <a:avLst/>
          </a:prstGeom>
          <a:solidFill>
            <a:srgbClr val="F59E0B"/>
          </a:solidFill>
          <a:ln/>
        </p:spPr>
      </p:sp>
      <p:sp>
        <p:nvSpPr>
          <p:cNvPr id="19" name="Text 17"/>
          <p:cNvSpPr/>
          <p:nvPr/>
        </p:nvSpPr>
        <p:spPr>
          <a:xfrm>
            <a:off x="4892040" y="3127248"/>
            <a:ext cx="3794760" cy="320040"/>
          </a:xfrm>
          <a:prstGeom prst="rect">
            <a:avLst/>
          </a:prstGeom>
          <a:noFill/>
          <a:ln/>
        </p:spPr>
        <p:txBody>
          <a:bodyPr wrap="square" rtlCol="0" anchor="ctr"/>
          <a:lstStyle/>
          <a:p>
            <a:pPr indent="0" marL="0">
              <a:buNone/>
            </a:pPr>
            <a:r>
              <a:rPr lang="en-US" sz="1300" b="1" dirty="0">
                <a:solidFill>
                  <a:srgbClr val="FFFFFF"/>
                </a:solidFill>
              </a:rPr>
              <a:t>Predictable costs (no surprises)</a:t>
            </a:r>
            <a:endParaRPr lang="en-US" sz="1300" dirty="0"/>
          </a:p>
        </p:txBody>
      </p:sp>
      <p:sp>
        <p:nvSpPr>
          <p:cNvPr id="20" name="Text 18"/>
          <p:cNvSpPr/>
          <p:nvPr/>
        </p:nvSpPr>
        <p:spPr>
          <a:xfrm>
            <a:off x="4892040" y="3456432"/>
            <a:ext cx="3794760" cy="1005840"/>
          </a:xfrm>
          <a:prstGeom prst="rect">
            <a:avLst/>
          </a:prstGeom>
          <a:noFill/>
          <a:ln/>
        </p:spPr>
        <p:txBody>
          <a:bodyPr wrap="square" rtlCol="0" anchor="ctr"/>
          <a:lstStyle/>
          <a:p>
            <a:pPr indent="0" marL="0">
              <a:buNone/>
            </a:pPr>
            <a:r>
              <a:rPr lang="en-US" sz="1050" dirty="0">
                <a:solidFill>
                  <a:srgbClr val="94A3B8"/>
                </a:solidFill>
              </a:rPr>
              <a:t>Hard input caps in code (not just prompts) mean no lead can consume more than a fixed token budget — regardless of how big a company's website is. Monthly token budgets per plan prevent any user from accidentally running up a large AI bill.</a:t>
            </a:r>
            <a:endParaRPr lang="en-US" sz="1050" dirty="0"/>
          </a:p>
        </p:txBody>
      </p:sp>
      <p:sp>
        <p:nvSpPr>
          <p:cNvPr id="21" name="Text 19"/>
          <p:cNvSpPr/>
          <p:nvPr/>
        </p:nvSpPr>
        <p:spPr>
          <a:xfrm>
            <a:off x="7132320" y="4919472"/>
            <a:ext cx="1828800" cy="182880"/>
          </a:xfrm>
          <a:prstGeom prst="rect">
            <a:avLst/>
          </a:prstGeom>
          <a:noFill/>
          <a:ln/>
        </p:spPr>
        <p:txBody>
          <a:bodyPr wrap="square" rtlCol="0" anchor="ctr"/>
          <a:lstStyle/>
          <a:p>
            <a:pPr algn="r" indent="0" marL="0">
              <a:buNone/>
            </a:pPr>
            <a:r>
              <a:rPr lang="en-US" sz="900" dirty="0">
                <a:solidFill>
                  <a:srgbClr val="334155"/>
                </a:solidFill>
              </a:rPr>
              <a:t>flowfiy.com  |  Confidential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A0F1E"/>
          </a:solidFill>
          <a:ln/>
        </p:spPr>
      </p:sp>
      <p:sp>
        <p:nvSpPr>
          <p:cNvPr id="3" name="Text 1"/>
          <p:cNvSpPr/>
          <p:nvPr/>
        </p:nvSpPr>
        <p:spPr>
          <a:xfrm>
            <a:off x="457200" y="0"/>
            <a:ext cx="8229600" cy="502920"/>
          </a:xfrm>
          <a:prstGeom prst="rect">
            <a:avLst/>
          </a:prstGeom>
          <a:noFill/>
          <a:ln/>
        </p:spPr>
        <p:txBody>
          <a:bodyPr wrap="square" rtlCol="0" anchor="ctr"/>
          <a:lstStyle/>
          <a:p>
            <a:pPr indent="0" marL="0">
              <a:buNone/>
            </a:pPr>
            <a:r>
              <a:rPr lang="en-US" sz="1100" b="1" spc="300" kern="0" dirty="0">
                <a:solidFill>
                  <a:srgbClr val="93C5FD"/>
                </a:solidFill>
              </a:rPr>
              <a:t>PLANS &amp; PRICING</a:t>
            </a:r>
            <a:endParaRPr lang="en-US" sz="1100" dirty="0"/>
          </a:p>
        </p:txBody>
      </p:sp>
      <p:sp>
        <p:nvSpPr>
          <p:cNvPr id="4" name="Text 2"/>
          <p:cNvSpPr/>
          <p:nvPr/>
        </p:nvSpPr>
        <p:spPr>
          <a:xfrm>
            <a:off x="457200" y="640080"/>
            <a:ext cx="8229600" cy="502920"/>
          </a:xfrm>
          <a:prstGeom prst="rect">
            <a:avLst/>
          </a:prstGeom>
          <a:noFill/>
          <a:ln/>
        </p:spPr>
        <p:txBody>
          <a:bodyPr wrap="square" rtlCol="0" anchor="ctr"/>
          <a:lstStyle/>
          <a:p>
            <a:pPr indent="0" marL="0">
              <a:buNone/>
            </a:pPr>
            <a:r>
              <a:rPr lang="en-US" sz="2600" b="1" dirty="0">
                <a:solidFill>
                  <a:srgbClr val="1E293B"/>
                </a:solidFill>
              </a:rPr>
              <a:t>One platform — four tiers</a:t>
            </a:r>
            <a:endParaRPr lang="en-US" sz="2600" dirty="0"/>
          </a:p>
        </p:txBody>
      </p:sp>
      <p:sp>
        <p:nvSpPr>
          <p:cNvPr id="5" name="Text 3"/>
          <p:cNvSpPr/>
          <p:nvPr/>
        </p:nvSpPr>
        <p:spPr>
          <a:xfrm>
            <a:off x="457200" y="1143000"/>
            <a:ext cx="8229600" cy="320040"/>
          </a:xfrm>
          <a:prstGeom prst="rect">
            <a:avLst/>
          </a:prstGeom>
          <a:noFill/>
          <a:ln/>
        </p:spPr>
        <p:txBody>
          <a:bodyPr wrap="square" rtlCol="0" anchor="ctr"/>
          <a:lstStyle/>
          <a:p>
            <a:pPr indent="0" marL="0">
              <a:buNone/>
            </a:pPr>
            <a:r>
              <a:rPr lang="en-US" sz="1300" dirty="0">
                <a:solidFill>
                  <a:srgbClr val="94A3B8"/>
                </a:solidFill>
              </a:rPr>
              <a:t>No contracts. Cancel anytime. India-first pricing, works globally.</a:t>
            </a:r>
            <a:endParaRPr lang="en-US" sz="1300" dirty="0"/>
          </a:p>
        </p:txBody>
      </p:sp>
      <p:sp>
        <p:nvSpPr>
          <p:cNvPr id="6" name="Shape 4"/>
          <p:cNvSpPr/>
          <p:nvPr/>
        </p:nvSpPr>
        <p:spPr>
          <a:xfrm>
            <a:off x="411480" y="1600200"/>
            <a:ext cx="1920240" cy="3090672"/>
          </a:xfrm>
          <a:prstGeom prst="rect">
            <a:avLst/>
          </a:prstGeom>
          <a:solidFill>
            <a:srgbClr val="FFFFFF"/>
          </a:solidFill>
          <a:ln w="6350">
            <a:solidFill>
              <a:srgbClr val="E2E8F0"/>
            </a:solidFill>
            <a:prstDash val="solid"/>
          </a:ln>
        </p:spPr>
      </p:sp>
      <p:sp>
        <p:nvSpPr>
          <p:cNvPr id="7" name="Text 5"/>
          <p:cNvSpPr/>
          <p:nvPr/>
        </p:nvSpPr>
        <p:spPr>
          <a:xfrm>
            <a:off x="502920" y="1719072"/>
            <a:ext cx="1737360" cy="384048"/>
          </a:xfrm>
          <a:prstGeom prst="rect">
            <a:avLst/>
          </a:prstGeom>
          <a:noFill/>
          <a:ln/>
        </p:spPr>
        <p:txBody>
          <a:bodyPr wrap="square" rtlCol="0" anchor="ctr"/>
          <a:lstStyle/>
          <a:p>
            <a:pPr algn="ctr" indent="0" marL="0">
              <a:buNone/>
            </a:pPr>
            <a:r>
              <a:rPr lang="en-US" sz="1600" b="1" dirty="0">
                <a:solidFill>
                  <a:srgbClr val="1E293B"/>
                </a:solidFill>
              </a:rPr>
              <a:t>Free</a:t>
            </a:r>
            <a:endParaRPr lang="en-US" sz="1600" dirty="0"/>
          </a:p>
        </p:txBody>
      </p:sp>
      <p:sp>
        <p:nvSpPr>
          <p:cNvPr id="8" name="Text 6"/>
          <p:cNvSpPr/>
          <p:nvPr/>
        </p:nvSpPr>
        <p:spPr>
          <a:xfrm>
            <a:off x="502920" y="2121408"/>
            <a:ext cx="1737360" cy="502920"/>
          </a:xfrm>
          <a:prstGeom prst="rect">
            <a:avLst/>
          </a:prstGeom>
          <a:noFill/>
          <a:ln/>
        </p:spPr>
        <p:txBody>
          <a:bodyPr wrap="square" rtlCol="0" anchor="ctr"/>
          <a:lstStyle/>
          <a:p>
            <a:pPr algn="ctr" indent="0" marL="0">
              <a:buNone/>
            </a:pPr>
            <a:r>
              <a:rPr lang="en-US" sz="2400" b="1" dirty="0">
                <a:solidFill>
                  <a:srgbClr val="1E293B"/>
                </a:solidFill>
              </a:rPr>
              <a:t>₹0</a:t>
            </a:r>
            <a:endParaRPr lang="en-US" sz="2400" dirty="0"/>
          </a:p>
        </p:txBody>
      </p:sp>
      <p:sp>
        <p:nvSpPr>
          <p:cNvPr id="9" name="Text 7"/>
          <p:cNvSpPr/>
          <p:nvPr/>
        </p:nvSpPr>
        <p:spPr>
          <a:xfrm>
            <a:off x="502920" y="2596896"/>
            <a:ext cx="1737360" cy="274320"/>
          </a:xfrm>
          <a:prstGeom prst="rect">
            <a:avLst/>
          </a:prstGeom>
          <a:noFill/>
          <a:ln/>
        </p:spPr>
        <p:txBody>
          <a:bodyPr wrap="square" rtlCol="0" anchor="ctr"/>
          <a:lstStyle/>
          <a:p>
            <a:pPr algn="ctr" indent="0" marL="0">
              <a:buNone/>
            </a:pPr>
            <a:r>
              <a:rPr lang="en-US" sz="1000" dirty="0">
                <a:solidFill>
                  <a:srgbClr val="94A3B8"/>
                </a:solidFill>
              </a:rPr>
              <a:t>per month</a:t>
            </a:r>
            <a:endParaRPr lang="en-US" sz="1000" dirty="0"/>
          </a:p>
        </p:txBody>
      </p:sp>
      <p:sp>
        <p:nvSpPr>
          <p:cNvPr id="10" name="Shape 8"/>
          <p:cNvSpPr/>
          <p:nvPr/>
        </p:nvSpPr>
        <p:spPr>
          <a:xfrm>
            <a:off x="548640" y="2907792"/>
            <a:ext cx="1645920" cy="0"/>
          </a:xfrm>
          <a:prstGeom prst="line">
            <a:avLst/>
          </a:prstGeom>
          <a:noFill/>
          <a:ln w="6350">
            <a:solidFill>
              <a:srgbClr val="E2E8F0"/>
            </a:solidFill>
            <a:prstDash val="solid"/>
          </a:ln>
        </p:spPr>
      </p:sp>
      <p:sp>
        <p:nvSpPr>
          <p:cNvPr id="11" name="Text 9"/>
          <p:cNvSpPr/>
          <p:nvPr/>
        </p:nvSpPr>
        <p:spPr>
          <a:xfrm>
            <a:off x="521208" y="3044952"/>
            <a:ext cx="1700784" cy="228600"/>
          </a:xfrm>
          <a:prstGeom prst="rect">
            <a:avLst/>
          </a:prstGeom>
          <a:noFill/>
          <a:ln/>
        </p:spPr>
        <p:txBody>
          <a:bodyPr wrap="square" rtlCol="0" anchor="ctr"/>
          <a:lstStyle/>
          <a:p>
            <a:pPr algn="ctr" indent="0" marL="0">
              <a:buNone/>
            </a:pPr>
            <a:r>
              <a:rPr lang="en-US" sz="1000" dirty="0">
                <a:solidFill>
                  <a:srgbClr val="94A3B8"/>
                </a:solidFill>
              </a:rPr>
              <a:t>Leads/month</a:t>
            </a:r>
            <a:endParaRPr lang="en-US" sz="1000" dirty="0"/>
          </a:p>
        </p:txBody>
      </p:sp>
      <p:sp>
        <p:nvSpPr>
          <p:cNvPr id="12" name="Text 10"/>
          <p:cNvSpPr/>
          <p:nvPr/>
        </p:nvSpPr>
        <p:spPr>
          <a:xfrm>
            <a:off x="521208" y="3246120"/>
            <a:ext cx="1700784" cy="237744"/>
          </a:xfrm>
          <a:prstGeom prst="rect">
            <a:avLst/>
          </a:prstGeom>
          <a:noFill/>
          <a:ln/>
        </p:spPr>
        <p:txBody>
          <a:bodyPr wrap="square" rtlCol="0" anchor="ctr"/>
          <a:lstStyle/>
          <a:p>
            <a:pPr algn="ctr" indent="0" marL="0">
              <a:buNone/>
            </a:pPr>
            <a:r>
              <a:rPr lang="en-US" sz="1100" b="1" dirty="0">
                <a:solidFill>
                  <a:srgbClr val="1E293B"/>
                </a:solidFill>
              </a:rPr>
              <a:t>100/mo</a:t>
            </a:r>
            <a:endParaRPr lang="en-US" sz="1100" dirty="0"/>
          </a:p>
        </p:txBody>
      </p:sp>
      <p:sp>
        <p:nvSpPr>
          <p:cNvPr id="13" name="Text 11"/>
          <p:cNvSpPr/>
          <p:nvPr/>
        </p:nvSpPr>
        <p:spPr>
          <a:xfrm>
            <a:off x="521208" y="3520440"/>
            <a:ext cx="1700784" cy="228600"/>
          </a:xfrm>
          <a:prstGeom prst="rect">
            <a:avLst/>
          </a:prstGeom>
          <a:noFill/>
          <a:ln/>
        </p:spPr>
        <p:txBody>
          <a:bodyPr wrap="square" rtlCol="0" anchor="ctr"/>
          <a:lstStyle/>
          <a:p>
            <a:pPr algn="ctr" indent="0" marL="0">
              <a:buNone/>
            </a:pPr>
            <a:r>
              <a:rPr lang="en-US" sz="1000" dirty="0">
                <a:solidFill>
                  <a:srgbClr val="94A3B8"/>
                </a:solidFill>
              </a:rPr>
              <a:t>Team seats</a:t>
            </a:r>
            <a:endParaRPr lang="en-US" sz="1000" dirty="0"/>
          </a:p>
        </p:txBody>
      </p:sp>
      <p:sp>
        <p:nvSpPr>
          <p:cNvPr id="14" name="Text 12"/>
          <p:cNvSpPr/>
          <p:nvPr/>
        </p:nvSpPr>
        <p:spPr>
          <a:xfrm>
            <a:off x="521208" y="3721608"/>
            <a:ext cx="1700784" cy="237744"/>
          </a:xfrm>
          <a:prstGeom prst="rect">
            <a:avLst/>
          </a:prstGeom>
          <a:noFill/>
          <a:ln/>
        </p:spPr>
        <p:txBody>
          <a:bodyPr wrap="square" rtlCol="0" anchor="ctr"/>
          <a:lstStyle/>
          <a:p>
            <a:pPr algn="ctr" indent="0" marL="0">
              <a:buNone/>
            </a:pPr>
            <a:r>
              <a:rPr lang="en-US" sz="1100" b="1" dirty="0">
                <a:solidFill>
                  <a:srgbClr val="1E293B"/>
                </a:solidFill>
              </a:rPr>
              <a:t>1</a:t>
            </a:r>
            <a:endParaRPr lang="en-US" sz="1100" dirty="0"/>
          </a:p>
        </p:txBody>
      </p:sp>
      <p:sp>
        <p:nvSpPr>
          <p:cNvPr id="15" name="Text 13"/>
          <p:cNvSpPr/>
          <p:nvPr/>
        </p:nvSpPr>
        <p:spPr>
          <a:xfrm>
            <a:off x="521208" y="3995928"/>
            <a:ext cx="1700784" cy="228600"/>
          </a:xfrm>
          <a:prstGeom prst="rect">
            <a:avLst/>
          </a:prstGeom>
          <a:noFill/>
          <a:ln/>
        </p:spPr>
        <p:txBody>
          <a:bodyPr wrap="square" rtlCol="0" anchor="ctr"/>
          <a:lstStyle/>
          <a:p>
            <a:pPr algn="ctr" indent="0" marL="0">
              <a:buNone/>
            </a:pPr>
            <a:r>
              <a:rPr lang="en-US" sz="1000" dirty="0">
                <a:solidFill>
                  <a:srgbClr val="94A3B8"/>
                </a:solidFill>
              </a:rPr>
              <a:t>AI model</a:t>
            </a:r>
            <a:endParaRPr lang="en-US" sz="1000" dirty="0"/>
          </a:p>
        </p:txBody>
      </p:sp>
      <p:sp>
        <p:nvSpPr>
          <p:cNvPr id="16" name="Text 14"/>
          <p:cNvSpPr/>
          <p:nvPr/>
        </p:nvSpPr>
        <p:spPr>
          <a:xfrm>
            <a:off x="521208" y="4197096"/>
            <a:ext cx="1700784" cy="237744"/>
          </a:xfrm>
          <a:prstGeom prst="rect">
            <a:avLst/>
          </a:prstGeom>
          <a:noFill/>
          <a:ln/>
        </p:spPr>
        <p:txBody>
          <a:bodyPr wrap="square" rtlCol="0" anchor="ctr"/>
          <a:lstStyle/>
          <a:p>
            <a:pPr algn="ctr" indent="0" marL="0">
              <a:buNone/>
            </a:pPr>
            <a:r>
              <a:rPr lang="en-US" sz="1100" b="1" dirty="0">
                <a:solidFill>
                  <a:srgbClr val="1E293B"/>
                </a:solidFill>
              </a:rPr>
              <a:t>BYOK only</a:t>
            </a:r>
            <a:endParaRPr lang="en-US" sz="1100" dirty="0"/>
          </a:p>
        </p:txBody>
      </p:sp>
      <p:sp>
        <p:nvSpPr>
          <p:cNvPr id="17" name="Shape 15"/>
          <p:cNvSpPr/>
          <p:nvPr/>
        </p:nvSpPr>
        <p:spPr>
          <a:xfrm>
            <a:off x="2532888" y="1600200"/>
            <a:ext cx="1920240" cy="3090672"/>
          </a:xfrm>
          <a:prstGeom prst="rect">
            <a:avLst/>
          </a:prstGeom>
          <a:solidFill>
            <a:srgbClr val="FFFFFF"/>
          </a:solidFill>
          <a:ln w="6350">
            <a:solidFill>
              <a:srgbClr val="E2E8F0"/>
            </a:solidFill>
            <a:prstDash val="solid"/>
          </a:ln>
        </p:spPr>
      </p:sp>
      <p:sp>
        <p:nvSpPr>
          <p:cNvPr id="18" name="Text 16"/>
          <p:cNvSpPr/>
          <p:nvPr/>
        </p:nvSpPr>
        <p:spPr>
          <a:xfrm>
            <a:off x="2624328" y="1719072"/>
            <a:ext cx="1737360" cy="384048"/>
          </a:xfrm>
          <a:prstGeom prst="rect">
            <a:avLst/>
          </a:prstGeom>
          <a:noFill/>
          <a:ln/>
        </p:spPr>
        <p:txBody>
          <a:bodyPr wrap="square" rtlCol="0" anchor="ctr"/>
          <a:lstStyle/>
          <a:p>
            <a:pPr algn="ctr" indent="0" marL="0">
              <a:buNone/>
            </a:pPr>
            <a:r>
              <a:rPr lang="en-US" sz="1600" b="1" dirty="0">
                <a:solidFill>
                  <a:srgbClr val="1E293B"/>
                </a:solidFill>
              </a:rPr>
              <a:t>Indie</a:t>
            </a:r>
            <a:endParaRPr lang="en-US" sz="1600" dirty="0"/>
          </a:p>
        </p:txBody>
      </p:sp>
      <p:sp>
        <p:nvSpPr>
          <p:cNvPr id="19" name="Text 17"/>
          <p:cNvSpPr/>
          <p:nvPr/>
        </p:nvSpPr>
        <p:spPr>
          <a:xfrm>
            <a:off x="2624328" y="2121408"/>
            <a:ext cx="1737360" cy="502920"/>
          </a:xfrm>
          <a:prstGeom prst="rect">
            <a:avLst/>
          </a:prstGeom>
          <a:noFill/>
          <a:ln/>
        </p:spPr>
        <p:txBody>
          <a:bodyPr wrap="square" rtlCol="0" anchor="ctr"/>
          <a:lstStyle/>
          <a:p>
            <a:pPr algn="ctr" indent="0" marL="0">
              <a:buNone/>
            </a:pPr>
            <a:r>
              <a:rPr lang="en-US" sz="2400" b="1" dirty="0">
                <a:solidFill>
                  <a:srgbClr val="1E293B"/>
                </a:solidFill>
              </a:rPr>
              <a:t>₹1,700</a:t>
            </a:r>
            <a:endParaRPr lang="en-US" sz="2400" dirty="0"/>
          </a:p>
        </p:txBody>
      </p:sp>
      <p:sp>
        <p:nvSpPr>
          <p:cNvPr id="20" name="Text 18"/>
          <p:cNvSpPr/>
          <p:nvPr/>
        </p:nvSpPr>
        <p:spPr>
          <a:xfrm>
            <a:off x="2624328" y="2596896"/>
            <a:ext cx="1737360" cy="274320"/>
          </a:xfrm>
          <a:prstGeom prst="rect">
            <a:avLst/>
          </a:prstGeom>
          <a:noFill/>
          <a:ln/>
        </p:spPr>
        <p:txBody>
          <a:bodyPr wrap="square" rtlCol="0" anchor="ctr"/>
          <a:lstStyle/>
          <a:p>
            <a:pPr algn="ctr" indent="0" marL="0">
              <a:buNone/>
            </a:pPr>
            <a:r>
              <a:rPr lang="en-US" sz="1000" dirty="0">
                <a:solidFill>
                  <a:srgbClr val="94A3B8"/>
                </a:solidFill>
              </a:rPr>
              <a:t>per month</a:t>
            </a:r>
            <a:endParaRPr lang="en-US" sz="1000" dirty="0"/>
          </a:p>
        </p:txBody>
      </p:sp>
      <p:sp>
        <p:nvSpPr>
          <p:cNvPr id="21" name="Shape 19"/>
          <p:cNvSpPr/>
          <p:nvPr/>
        </p:nvSpPr>
        <p:spPr>
          <a:xfrm>
            <a:off x="2670048" y="2907792"/>
            <a:ext cx="1645920" cy="0"/>
          </a:xfrm>
          <a:prstGeom prst="line">
            <a:avLst/>
          </a:prstGeom>
          <a:noFill/>
          <a:ln w="6350">
            <a:solidFill>
              <a:srgbClr val="E2E8F0"/>
            </a:solidFill>
            <a:prstDash val="solid"/>
          </a:ln>
        </p:spPr>
      </p:sp>
      <p:sp>
        <p:nvSpPr>
          <p:cNvPr id="22" name="Text 20"/>
          <p:cNvSpPr/>
          <p:nvPr/>
        </p:nvSpPr>
        <p:spPr>
          <a:xfrm>
            <a:off x="2642616" y="3044952"/>
            <a:ext cx="1700784" cy="228600"/>
          </a:xfrm>
          <a:prstGeom prst="rect">
            <a:avLst/>
          </a:prstGeom>
          <a:noFill/>
          <a:ln/>
        </p:spPr>
        <p:txBody>
          <a:bodyPr wrap="square" rtlCol="0" anchor="ctr"/>
          <a:lstStyle/>
          <a:p>
            <a:pPr algn="ctr" indent="0" marL="0">
              <a:buNone/>
            </a:pPr>
            <a:r>
              <a:rPr lang="en-US" sz="1000" dirty="0">
                <a:solidFill>
                  <a:srgbClr val="94A3B8"/>
                </a:solidFill>
              </a:rPr>
              <a:t>Leads/month</a:t>
            </a:r>
            <a:endParaRPr lang="en-US" sz="1000" dirty="0"/>
          </a:p>
        </p:txBody>
      </p:sp>
      <p:sp>
        <p:nvSpPr>
          <p:cNvPr id="23" name="Text 21"/>
          <p:cNvSpPr/>
          <p:nvPr/>
        </p:nvSpPr>
        <p:spPr>
          <a:xfrm>
            <a:off x="2642616" y="3246120"/>
            <a:ext cx="1700784" cy="237744"/>
          </a:xfrm>
          <a:prstGeom prst="rect">
            <a:avLst/>
          </a:prstGeom>
          <a:noFill/>
          <a:ln/>
        </p:spPr>
        <p:txBody>
          <a:bodyPr wrap="square" rtlCol="0" anchor="ctr"/>
          <a:lstStyle/>
          <a:p>
            <a:pPr algn="ctr" indent="0" marL="0">
              <a:buNone/>
            </a:pPr>
            <a:r>
              <a:rPr lang="en-US" sz="1100" b="1" dirty="0">
                <a:solidFill>
                  <a:srgbClr val="1E293B"/>
                </a:solidFill>
              </a:rPr>
              <a:t>2,500/mo</a:t>
            </a:r>
            <a:endParaRPr lang="en-US" sz="1100" dirty="0"/>
          </a:p>
        </p:txBody>
      </p:sp>
      <p:sp>
        <p:nvSpPr>
          <p:cNvPr id="24" name="Text 22"/>
          <p:cNvSpPr/>
          <p:nvPr/>
        </p:nvSpPr>
        <p:spPr>
          <a:xfrm>
            <a:off x="2642616" y="3520440"/>
            <a:ext cx="1700784" cy="228600"/>
          </a:xfrm>
          <a:prstGeom prst="rect">
            <a:avLst/>
          </a:prstGeom>
          <a:noFill/>
          <a:ln/>
        </p:spPr>
        <p:txBody>
          <a:bodyPr wrap="square" rtlCol="0" anchor="ctr"/>
          <a:lstStyle/>
          <a:p>
            <a:pPr algn="ctr" indent="0" marL="0">
              <a:buNone/>
            </a:pPr>
            <a:r>
              <a:rPr lang="en-US" sz="1000" dirty="0">
                <a:solidFill>
                  <a:srgbClr val="94A3B8"/>
                </a:solidFill>
              </a:rPr>
              <a:t>Team seats</a:t>
            </a:r>
            <a:endParaRPr lang="en-US" sz="1000" dirty="0"/>
          </a:p>
        </p:txBody>
      </p:sp>
      <p:sp>
        <p:nvSpPr>
          <p:cNvPr id="25" name="Text 23"/>
          <p:cNvSpPr/>
          <p:nvPr/>
        </p:nvSpPr>
        <p:spPr>
          <a:xfrm>
            <a:off x="2642616" y="3721608"/>
            <a:ext cx="1700784" cy="237744"/>
          </a:xfrm>
          <a:prstGeom prst="rect">
            <a:avLst/>
          </a:prstGeom>
          <a:noFill/>
          <a:ln/>
        </p:spPr>
        <p:txBody>
          <a:bodyPr wrap="square" rtlCol="0" anchor="ctr"/>
          <a:lstStyle/>
          <a:p>
            <a:pPr algn="ctr" indent="0" marL="0">
              <a:buNone/>
            </a:pPr>
            <a:r>
              <a:rPr lang="en-US" sz="1100" b="1" dirty="0">
                <a:solidFill>
                  <a:srgbClr val="1E293B"/>
                </a:solidFill>
              </a:rPr>
              <a:t>1</a:t>
            </a:r>
            <a:endParaRPr lang="en-US" sz="1100" dirty="0"/>
          </a:p>
        </p:txBody>
      </p:sp>
      <p:sp>
        <p:nvSpPr>
          <p:cNvPr id="26" name="Text 24"/>
          <p:cNvSpPr/>
          <p:nvPr/>
        </p:nvSpPr>
        <p:spPr>
          <a:xfrm>
            <a:off x="2642616" y="3995928"/>
            <a:ext cx="1700784" cy="228600"/>
          </a:xfrm>
          <a:prstGeom prst="rect">
            <a:avLst/>
          </a:prstGeom>
          <a:noFill/>
          <a:ln/>
        </p:spPr>
        <p:txBody>
          <a:bodyPr wrap="square" rtlCol="0" anchor="ctr"/>
          <a:lstStyle/>
          <a:p>
            <a:pPr algn="ctr" indent="0" marL="0">
              <a:buNone/>
            </a:pPr>
            <a:r>
              <a:rPr lang="en-US" sz="1000" dirty="0">
                <a:solidFill>
                  <a:srgbClr val="94A3B8"/>
                </a:solidFill>
              </a:rPr>
              <a:t>AI model</a:t>
            </a:r>
            <a:endParaRPr lang="en-US" sz="1000" dirty="0"/>
          </a:p>
        </p:txBody>
      </p:sp>
      <p:sp>
        <p:nvSpPr>
          <p:cNvPr id="27" name="Text 25"/>
          <p:cNvSpPr/>
          <p:nvPr/>
        </p:nvSpPr>
        <p:spPr>
          <a:xfrm>
            <a:off x="2642616" y="4197096"/>
            <a:ext cx="1700784" cy="237744"/>
          </a:xfrm>
          <a:prstGeom prst="rect">
            <a:avLst/>
          </a:prstGeom>
          <a:noFill/>
          <a:ln/>
        </p:spPr>
        <p:txBody>
          <a:bodyPr wrap="square" rtlCol="0" anchor="ctr"/>
          <a:lstStyle/>
          <a:p>
            <a:pPr algn="ctr" indent="0" marL="0">
              <a:buNone/>
            </a:pPr>
            <a:r>
              <a:rPr lang="en-US" sz="1100" b="1" dirty="0">
                <a:solidFill>
                  <a:srgbClr val="1E293B"/>
                </a:solidFill>
              </a:rPr>
              <a:t>BYOK</a:t>
            </a:r>
            <a:endParaRPr lang="en-US" sz="1100" dirty="0"/>
          </a:p>
        </p:txBody>
      </p:sp>
      <p:sp>
        <p:nvSpPr>
          <p:cNvPr id="28" name="Shape 26"/>
          <p:cNvSpPr/>
          <p:nvPr/>
        </p:nvSpPr>
        <p:spPr>
          <a:xfrm>
            <a:off x="4654296" y="1600200"/>
            <a:ext cx="1920240" cy="3090672"/>
          </a:xfrm>
          <a:prstGeom prst="rect">
            <a:avLst/>
          </a:prstGeom>
          <a:solidFill>
            <a:srgbClr val="0A0F1E"/>
          </a:solidFill>
          <a:ln w="19050">
            <a:solidFill>
              <a:srgbClr val="1A56DB"/>
            </a:solidFill>
            <a:prstDash val="solid"/>
          </a:ln>
        </p:spPr>
      </p:sp>
      <p:sp>
        <p:nvSpPr>
          <p:cNvPr id="29" name="Shape 27"/>
          <p:cNvSpPr/>
          <p:nvPr/>
        </p:nvSpPr>
        <p:spPr>
          <a:xfrm>
            <a:off x="4654296" y="1600200"/>
            <a:ext cx="1920240" cy="64008"/>
          </a:xfrm>
          <a:prstGeom prst="rect">
            <a:avLst/>
          </a:prstGeom>
          <a:solidFill>
            <a:srgbClr val="1A56DB"/>
          </a:solidFill>
          <a:ln/>
        </p:spPr>
      </p:sp>
      <p:sp>
        <p:nvSpPr>
          <p:cNvPr id="30" name="Text 28"/>
          <p:cNvSpPr/>
          <p:nvPr/>
        </p:nvSpPr>
        <p:spPr>
          <a:xfrm>
            <a:off x="4654296" y="1600200"/>
            <a:ext cx="1920240" cy="320040"/>
          </a:xfrm>
          <a:prstGeom prst="rect">
            <a:avLst/>
          </a:prstGeom>
          <a:noFill/>
          <a:ln/>
        </p:spPr>
        <p:txBody>
          <a:bodyPr wrap="square" rtlCol="0" anchor="ctr"/>
          <a:lstStyle/>
          <a:p>
            <a:pPr algn="ctr" indent="0" marL="0">
              <a:buNone/>
            </a:pPr>
            <a:r>
              <a:rPr lang="en-US" sz="900" b="1" dirty="0">
                <a:solidFill>
                  <a:srgbClr val="93C5FD"/>
                </a:solidFill>
              </a:rPr>
              <a:t>POPULAR</a:t>
            </a:r>
            <a:endParaRPr lang="en-US" sz="900" dirty="0"/>
          </a:p>
        </p:txBody>
      </p:sp>
      <p:sp>
        <p:nvSpPr>
          <p:cNvPr id="31" name="Text 29"/>
          <p:cNvSpPr/>
          <p:nvPr/>
        </p:nvSpPr>
        <p:spPr>
          <a:xfrm>
            <a:off x="4745736" y="1938528"/>
            <a:ext cx="1737360" cy="384048"/>
          </a:xfrm>
          <a:prstGeom prst="rect">
            <a:avLst/>
          </a:prstGeom>
          <a:noFill/>
          <a:ln/>
        </p:spPr>
        <p:txBody>
          <a:bodyPr wrap="square" rtlCol="0" anchor="ctr"/>
          <a:lstStyle/>
          <a:p>
            <a:pPr algn="ctr" indent="0" marL="0">
              <a:buNone/>
            </a:pPr>
            <a:r>
              <a:rPr lang="en-US" sz="1600" b="1" dirty="0">
                <a:solidFill>
                  <a:srgbClr val="FFFFFF"/>
                </a:solidFill>
              </a:rPr>
              <a:t>Starter</a:t>
            </a:r>
            <a:endParaRPr lang="en-US" sz="1600" dirty="0"/>
          </a:p>
        </p:txBody>
      </p:sp>
      <p:sp>
        <p:nvSpPr>
          <p:cNvPr id="32" name="Text 30"/>
          <p:cNvSpPr/>
          <p:nvPr/>
        </p:nvSpPr>
        <p:spPr>
          <a:xfrm>
            <a:off x="4745736" y="2340864"/>
            <a:ext cx="1737360" cy="502920"/>
          </a:xfrm>
          <a:prstGeom prst="rect">
            <a:avLst/>
          </a:prstGeom>
          <a:noFill/>
          <a:ln/>
        </p:spPr>
        <p:txBody>
          <a:bodyPr wrap="square" rtlCol="0" anchor="ctr"/>
          <a:lstStyle/>
          <a:p>
            <a:pPr algn="ctr" indent="0" marL="0">
              <a:buNone/>
            </a:pPr>
            <a:r>
              <a:rPr lang="en-US" sz="2400" b="1" dirty="0">
                <a:solidFill>
                  <a:srgbClr val="1A56DB"/>
                </a:solidFill>
              </a:rPr>
              <a:t>₹4,900</a:t>
            </a:r>
            <a:endParaRPr lang="en-US" sz="2400" dirty="0"/>
          </a:p>
        </p:txBody>
      </p:sp>
      <p:sp>
        <p:nvSpPr>
          <p:cNvPr id="33" name="Text 31"/>
          <p:cNvSpPr/>
          <p:nvPr/>
        </p:nvSpPr>
        <p:spPr>
          <a:xfrm>
            <a:off x="4745736" y="2816352"/>
            <a:ext cx="1737360" cy="274320"/>
          </a:xfrm>
          <a:prstGeom prst="rect">
            <a:avLst/>
          </a:prstGeom>
          <a:noFill/>
          <a:ln/>
        </p:spPr>
        <p:txBody>
          <a:bodyPr wrap="square" rtlCol="0" anchor="ctr"/>
          <a:lstStyle/>
          <a:p>
            <a:pPr algn="ctr" indent="0" marL="0">
              <a:buNone/>
            </a:pPr>
            <a:r>
              <a:rPr lang="en-US" sz="1000" dirty="0">
                <a:solidFill>
                  <a:srgbClr val="94A3B8"/>
                </a:solidFill>
              </a:rPr>
              <a:t>per month</a:t>
            </a:r>
            <a:endParaRPr lang="en-US" sz="1000" dirty="0"/>
          </a:p>
        </p:txBody>
      </p:sp>
      <p:sp>
        <p:nvSpPr>
          <p:cNvPr id="34" name="Shape 32"/>
          <p:cNvSpPr/>
          <p:nvPr/>
        </p:nvSpPr>
        <p:spPr>
          <a:xfrm>
            <a:off x="4791456" y="3127248"/>
            <a:ext cx="1645920" cy="0"/>
          </a:xfrm>
          <a:prstGeom prst="line">
            <a:avLst/>
          </a:prstGeom>
          <a:noFill/>
          <a:ln w="6350">
            <a:solidFill>
              <a:srgbClr val="1E3A5F"/>
            </a:solidFill>
            <a:prstDash val="solid"/>
          </a:ln>
        </p:spPr>
      </p:sp>
      <p:sp>
        <p:nvSpPr>
          <p:cNvPr id="35" name="Text 33"/>
          <p:cNvSpPr/>
          <p:nvPr/>
        </p:nvSpPr>
        <p:spPr>
          <a:xfrm>
            <a:off x="4764024" y="3264408"/>
            <a:ext cx="1700784" cy="228600"/>
          </a:xfrm>
          <a:prstGeom prst="rect">
            <a:avLst/>
          </a:prstGeom>
          <a:noFill/>
          <a:ln/>
        </p:spPr>
        <p:txBody>
          <a:bodyPr wrap="square" rtlCol="0" anchor="ctr"/>
          <a:lstStyle/>
          <a:p>
            <a:pPr algn="ctr" indent="0" marL="0">
              <a:buNone/>
            </a:pPr>
            <a:r>
              <a:rPr lang="en-US" sz="1000" dirty="0">
                <a:solidFill>
                  <a:srgbClr val="94A3B8"/>
                </a:solidFill>
              </a:rPr>
              <a:t>Leads/month</a:t>
            </a:r>
            <a:endParaRPr lang="en-US" sz="1000" dirty="0"/>
          </a:p>
        </p:txBody>
      </p:sp>
      <p:sp>
        <p:nvSpPr>
          <p:cNvPr id="36" name="Text 34"/>
          <p:cNvSpPr/>
          <p:nvPr/>
        </p:nvSpPr>
        <p:spPr>
          <a:xfrm>
            <a:off x="4764024" y="3465576"/>
            <a:ext cx="1700784" cy="237744"/>
          </a:xfrm>
          <a:prstGeom prst="rect">
            <a:avLst/>
          </a:prstGeom>
          <a:noFill/>
          <a:ln/>
        </p:spPr>
        <p:txBody>
          <a:bodyPr wrap="square" rtlCol="0" anchor="ctr"/>
          <a:lstStyle/>
          <a:p>
            <a:pPr algn="ctr" indent="0" marL="0">
              <a:buNone/>
            </a:pPr>
            <a:r>
              <a:rPr lang="en-US" sz="1100" b="1" dirty="0">
                <a:solidFill>
                  <a:srgbClr val="FFFFFF"/>
                </a:solidFill>
              </a:rPr>
              <a:t>10,000/mo</a:t>
            </a:r>
            <a:endParaRPr lang="en-US" sz="1100" dirty="0"/>
          </a:p>
        </p:txBody>
      </p:sp>
      <p:sp>
        <p:nvSpPr>
          <p:cNvPr id="37" name="Text 35"/>
          <p:cNvSpPr/>
          <p:nvPr/>
        </p:nvSpPr>
        <p:spPr>
          <a:xfrm>
            <a:off x="4764024" y="3739896"/>
            <a:ext cx="1700784" cy="228600"/>
          </a:xfrm>
          <a:prstGeom prst="rect">
            <a:avLst/>
          </a:prstGeom>
          <a:noFill/>
          <a:ln/>
        </p:spPr>
        <p:txBody>
          <a:bodyPr wrap="square" rtlCol="0" anchor="ctr"/>
          <a:lstStyle/>
          <a:p>
            <a:pPr algn="ctr" indent="0" marL="0">
              <a:buNone/>
            </a:pPr>
            <a:r>
              <a:rPr lang="en-US" sz="1000" dirty="0">
                <a:solidFill>
                  <a:srgbClr val="94A3B8"/>
                </a:solidFill>
              </a:rPr>
              <a:t>Team seats</a:t>
            </a:r>
            <a:endParaRPr lang="en-US" sz="1000" dirty="0"/>
          </a:p>
        </p:txBody>
      </p:sp>
      <p:sp>
        <p:nvSpPr>
          <p:cNvPr id="38" name="Text 36"/>
          <p:cNvSpPr/>
          <p:nvPr/>
        </p:nvSpPr>
        <p:spPr>
          <a:xfrm>
            <a:off x="4764024" y="3941064"/>
            <a:ext cx="1700784" cy="237744"/>
          </a:xfrm>
          <a:prstGeom prst="rect">
            <a:avLst/>
          </a:prstGeom>
          <a:noFill/>
          <a:ln/>
        </p:spPr>
        <p:txBody>
          <a:bodyPr wrap="square" rtlCol="0" anchor="ctr"/>
          <a:lstStyle/>
          <a:p>
            <a:pPr algn="ctr" indent="0" marL="0">
              <a:buNone/>
            </a:pPr>
            <a:r>
              <a:rPr lang="en-US" sz="1100" b="1" dirty="0">
                <a:solidFill>
                  <a:srgbClr val="FFFFFF"/>
                </a:solidFill>
              </a:rPr>
              <a:t>3</a:t>
            </a:r>
            <a:endParaRPr lang="en-US" sz="1100" dirty="0"/>
          </a:p>
        </p:txBody>
      </p:sp>
      <p:sp>
        <p:nvSpPr>
          <p:cNvPr id="39" name="Text 37"/>
          <p:cNvSpPr/>
          <p:nvPr/>
        </p:nvSpPr>
        <p:spPr>
          <a:xfrm>
            <a:off x="4764024" y="4215384"/>
            <a:ext cx="1700784" cy="228600"/>
          </a:xfrm>
          <a:prstGeom prst="rect">
            <a:avLst/>
          </a:prstGeom>
          <a:noFill/>
          <a:ln/>
        </p:spPr>
        <p:txBody>
          <a:bodyPr wrap="square" rtlCol="0" anchor="ctr"/>
          <a:lstStyle/>
          <a:p>
            <a:pPr algn="ctr" indent="0" marL="0">
              <a:buNone/>
            </a:pPr>
            <a:r>
              <a:rPr lang="en-US" sz="1000" dirty="0">
                <a:solidFill>
                  <a:srgbClr val="94A3B8"/>
                </a:solidFill>
              </a:rPr>
              <a:t>AI model</a:t>
            </a:r>
            <a:endParaRPr lang="en-US" sz="1000" dirty="0"/>
          </a:p>
        </p:txBody>
      </p:sp>
      <p:sp>
        <p:nvSpPr>
          <p:cNvPr id="40" name="Text 38"/>
          <p:cNvSpPr/>
          <p:nvPr/>
        </p:nvSpPr>
        <p:spPr>
          <a:xfrm>
            <a:off x="4764024" y="4416552"/>
            <a:ext cx="1700784" cy="237744"/>
          </a:xfrm>
          <a:prstGeom prst="rect">
            <a:avLst/>
          </a:prstGeom>
          <a:noFill/>
          <a:ln/>
        </p:spPr>
        <p:txBody>
          <a:bodyPr wrap="square" rtlCol="0" anchor="ctr"/>
          <a:lstStyle/>
          <a:p>
            <a:pPr algn="ctr" indent="0" marL="0">
              <a:buNone/>
            </a:pPr>
            <a:r>
              <a:rPr lang="en-US" sz="1100" b="1" dirty="0">
                <a:solidFill>
                  <a:srgbClr val="FFFFFF"/>
                </a:solidFill>
              </a:rPr>
              <a:t>Managed AI</a:t>
            </a:r>
            <a:endParaRPr lang="en-US" sz="1100" dirty="0"/>
          </a:p>
        </p:txBody>
      </p:sp>
      <p:sp>
        <p:nvSpPr>
          <p:cNvPr id="41" name="Shape 39"/>
          <p:cNvSpPr/>
          <p:nvPr/>
        </p:nvSpPr>
        <p:spPr>
          <a:xfrm>
            <a:off x="6775704" y="1600200"/>
            <a:ext cx="1920240" cy="3090672"/>
          </a:xfrm>
          <a:prstGeom prst="rect">
            <a:avLst/>
          </a:prstGeom>
          <a:solidFill>
            <a:srgbClr val="FFFFFF"/>
          </a:solidFill>
          <a:ln w="6350">
            <a:solidFill>
              <a:srgbClr val="E2E8F0"/>
            </a:solidFill>
            <a:prstDash val="solid"/>
          </a:ln>
        </p:spPr>
      </p:sp>
      <p:sp>
        <p:nvSpPr>
          <p:cNvPr id="42" name="Text 40"/>
          <p:cNvSpPr/>
          <p:nvPr/>
        </p:nvSpPr>
        <p:spPr>
          <a:xfrm>
            <a:off x="6867144" y="1719072"/>
            <a:ext cx="1737360" cy="384048"/>
          </a:xfrm>
          <a:prstGeom prst="rect">
            <a:avLst/>
          </a:prstGeom>
          <a:noFill/>
          <a:ln/>
        </p:spPr>
        <p:txBody>
          <a:bodyPr wrap="square" rtlCol="0" anchor="ctr"/>
          <a:lstStyle/>
          <a:p>
            <a:pPr algn="ctr" indent="0" marL="0">
              <a:buNone/>
            </a:pPr>
            <a:r>
              <a:rPr lang="en-US" sz="1600" b="1" dirty="0">
                <a:solidFill>
                  <a:srgbClr val="1E293B"/>
                </a:solidFill>
              </a:rPr>
              <a:t>Growth</a:t>
            </a:r>
            <a:endParaRPr lang="en-US" sz="1600" dirty="0"/>
          </a:p>
        </p:txBody>
      </p:sp>
      <p:sp>
        <p:nvSpPr>
          <p:cNvPr id="43" name="Text 41"/>
          <p:cNvSpPr/>
          <p:nvPr/>
        </p:nvSpPr>
        <p:spPr>
          <a:xfrm>
            <a:off x="6867144" y="2121408"/>
            <a:ext cx="1737360" cy="502920"/>
          </a:xfrm>
          <a:prstGeom prst="rect">
            <a:avLst/>
          </a:prstGeom>
          <a:noFill/>
          <a:ln/>
        </p:spPr>
        <p:txBody>
          <a:bodyPr wrap="square" rtlCol="0" anchor="ctr"/>
          <a:lstStyle/>
          <a:p>
            <a:pPr algn="ctr" indent="0" marL="0">
              <a:buNone/>
            </a:pPr>
            <a:r>
              <a:rPr lang="en-US" sz="2400" b="1" dirty="0">
                <a:solidFill>
                  <a:srgbClr val="1E293B"/>
                </a:solidFill>
              </a:rPr>
              <a:t>₹9,900</a:t>
            </a:r>
            <a:endParaRPr lang="en-US" sz="2400" dirty="0"/>
          </a:p>
        </p:txBody>
      </p:sp>
      <p:sp>
        <p:nvSpPr>
          <p:cNvPr id="44" name="Text 42"/>
          <p:cNvSpPr/>
          <p:nvPr/>
        </p:nvSpPr>
        <p:spPr>
          <a:xfrm>
            <a:off x="6867144" y="2596896"/>
            <a:ext cx="1737360" cy="274320"/>
          </a:xfrm>
          <a:prstGeom prst="rect">
            <a:avLst/>
          </a:prstGeom>
          <a:noFill/>
          <a:ln/>
        </p:spPr>
        <p:txBody>
          <a:bodyPr wrap="square" rtlCol="0" anchor="ctr"/>
          <a:lstStyle/>
          <a:p>
            <a:pPr algn="ctr" indent="0" marL="0">
              <a:buNone/>
            </a:pPr>
            <a:r>
              <a:rPr lang="en-US" sz="1000" dirty="0">
                <a:solidFill>
                  <a:srgbClr val="94A3B8"/>
                </a:solidFill>
              </a:rPr>
              <a:t>per month</a:t>
            </a:r>
            <a:endParaRPr lang="en-US" sz="1000" dirty="0"/>
          </a:p>
        </p:txBody>
      </p:sp>
      <p:sp>
        <p:nvSpPr>
          <p:cNvPr id="45" name="Shape 43"/>
          <p:cNvSpPr/>
          <p:nvPr/>
        </p:nvSpPr>
        <p:spPr>
          <a:xfrm>
            <a:off x="6912864" y="2907792"/>
            <a:ext cx="1645920" cy="0"/>
          </a:xfrm>
          <a:prstGeom prst="line">
            <a:avLst/>
          </a:prstGeom>
          <a:noFill/>
          <a:ln w="6350">
            <a:solidFill>
              <a:srgbClr val="E2E8F0"/>
            </a:solidFill>
            <a:prstDash val="solid"/>
          </a:ln>
        </p:spPr>
      </p:sp>
      <p:sp>
        <p:nvSpPr>
          <p:cNvPr id="46" name="Text 44"/>
          <p:cNvSpPr/>
          <p:nvPr/>
        </p:nvSpPr>
        <p:spPr>
          <a:xfrm>
            <a:off x="6885432" y="3044952"/>
            <a:ext cx="1700784" cy="228600"/>
          </a:xfrm>
          <a:prstGeom prst="rect">
            <a:avLst/>
          </a:prstGeom>
          <a:noFill/>
          <a:ln/>
        </p:spPr>
        <p:txBody>
          <a:bodyPr wrap="square" rtlCol="0" anchor="ctr"/>
          <a:lstStyle/>
          <a:p>
            <a:pPr algn="ctr" indent="0" marL="0">
              <a:buNone/>
            </a:pPr>
            <a:r>
              <a:rPr lang="en-US" sz="1000" dirty="0">
                <a:solidFill>
                  <a:srgbClr val="94A3B8"/>
                </a:solidFill>
              </a:rPr>
              <a:t>Leads/month</a:t>
            </a:r>
            <a:endParaRPr lang="en-US" sz="1000" dirty="0"/>
          </a:p>
        </p:txBody>
      </p:sp>
      <p:sp>
        <p:nvSpPr>
          <p:cNvPr id="47" name="Text 45"/>
          <p:cNvSpPr/>
          <p:nvPr/>
        </p:nvSpPr>
        <p:spPr>
          <a:xfrm>
            <a:off x="6885432" y="3246120"/>
            <a:ext cx="1700784" cy="237744"/>
          </a:xfrm>
          <a:prstGeom prst="rect">
            <a:avLst/>
          </a:prstGeom>
          <a:noFill/>
          <a:ln/>
        </p:spPr>
        <p:txBody>
          <a:bodyPr wrap="square" rtlCol="0" anchor="ctr"/>
          <a:lstStyle/>
          <a:p>
            <a:pPr algn="ctr" indent="0" marL="0">
              <a:buNone/>
            </a:pPr>
            <a:r>
              <a:rPr lang="en-US" sz="1100" b="1" dirty="0">
                <a:solidFill>
                  <a:srgbClr val="1E293B"/>
                </a:solidFill>
              </a:rPr>
              <a:t>30,000/mo</a:t>
            </a:r>
            <a:endParaRPr lang="en-US" sz="1100" dirty="0"/>
          </a:p>
        </p:txBody>
      </p:sp>
      <p:sp>
        <p:nvSpPr>
          <p:cNvPr id="48" name="Text 46"/>
          <p:cNvSpPr/>
          <p:nvPr/>
        </p:nvSpPr>
        <p:spPr>
          <a:xfrm>
            <a:off x="6885432" y="3520440"/>
            <a:ext cx="1700784" cy="228600"/>
          </a:xfrm>
          <a:prstGeom prst="rect">
            <a:avLst/>
          </a:prstGeom>
          <a:noFill/>
          <a:ln/>
        </p:spPr>
        <p:txBody>
          <a:bodyPr wrap="square" rtlCol="0" anchor="ctr"/>
          <a:lstStyle/>
          <a:p>
            <a:pPr algn="ctr" indent="0" marL="0">
              <a:buNone/>
            </a:pPr>
            <a:r>
              <a:rPr lang="en-US" sz="1000" dirty="0">
                <a:solidFill>
                  <a:srgbClr val="94A3B8"/>
                </a:solidFill>
              </a:rPr>
              <a:t>Team seats</a:t>
            </a:r>
            <a:endParaRPr lang="en-US" sz="1000" dirty="0"/>
          </a:p>
        </p:txBody>
      </p:sp>
      <p:sp>
        <p:nvSpPr>
          <p:cNvPr id="49" name="Text 47"/>
          <p:cNvSpPr/>
          <p:nvPr/>
        </p:nvSpPr>
        <p:spPr>
          <a:xfrm>
            <a:off x="6885432" y="3721608"/>
            <a:ext cx="1700784" cy="237744"/>
          </a:xfrm>
          <a:prstGeom prst="rect">
            <a:avLst/>
          </a:prstGeom>
          <a:noFill/>
          <a:ln/>
        </p:spPr>
        <p:txBody>
          <a:bodyPr wrap="square" rtlCol="0" anchor="ctr"/>
          <a:lstStyle/>
          <a:p>
            <a:pPr algn="ctr" indent="0" marL="0">
              <a:buNone/>
            </a:pPr>
            <a:r>
              <a:rPr lang="en-US" sz="1100" b="1" dirty="0">
                <a:solidFill>
                  <a:srgbClr val="1E293B"/>
                </a:solidFill>
              </a:rPr>
              <a:t>10</a:t>
            </a:r>
            <a:endParaRPr lang="en-US" sz="1100" dirty="0"/>
          </a:p>
        </p:txBody>
      </p:sp>
      <p:sp>
        <p:nvSpPr>
          <p:cNvPr id="50" name="Text 48"/>
          <p:cNvSpPr/>
          <p:nvPr/>
        </p:nvSpPr>
        <p:spPr>
          <a:xfrm>
            <a:off x="6885432" y="3995928"/>
            <a:ext cx="1700784" cy="228600"/>
          </a:xfrm>
          <a:prstGeom prst="rect">
            <a:avLst/>
          </a:prstGeom>
          <a:noFill/>
          <a:ln/>
        </p:spPr>
        <p:txBody>
          <a:bodyPr wrap="square" rtlCol="0" anchor="ctr"/>
          <a:lstStyle/>
          <a:p>
            <a:pPr algn="ctr" indent="0" marL="0">
              <a:buNone/>
            </a:pPr>
            <a:r>
              <a:rPr lang="en-US" sz="1000" dirty="0">
                <a:solidFill>
                  <a:srgbClr val="94A3B8"/>
                </a:solidFill>
              </a:rPr>
              <a:t>AI model</a:t>
            </a:r>
            <a:endParaRPr lang="en-US" sz="1000" dirty="0"/>
          </a:p>
        </p:txBody>
      </p:sp>
      <p:sp>
        <p:nvSpPr>
          <p:cNvPr id="51" name="Text 49"/>
          <p:cNvSpPr/>
          <p:nvPr/>
        </p:nvSpPr>
        <p:spPr>
          <a:xfrm>
            <a:off x="6885432" y="4197096"/>
            <a:ext cx="1700784" cy="237744"/>
          </a:xfrm>
          <a:prstGeom prst="rect">
            <a:avLst/>
          </a:prstGeom>
          <a:noFill/>
          <a:ln/>
        </p:spPr>
        <p:txBody>
          <a:bodyPr wrap="square" rtlCol="0" anchor="ctr"/>
          <a:lstStyle/>
          <a:p>
            <a:pPr algn="ctr" indent="0" marL="0">
              <a:buNone/>
            </a:pPr>
            <a:r>
              <a:rPr lang="en-US" sz="1100" b="1" dirty="0">
                <a:solidFill>
                  <a:srgbClr val="1E293B"/>
                </a:solidFill>
              </a:rPr>
              <a:t>Managed AI</a:t>
            </a:r>
            <a:endParaRPr lang="en-US" sz="1100" dirty="0"/>
          </a:p>
        </p:txBody>
      </p:sp>
      <p:sp>
        <p:nvSpPr>
          <p:cNvPr id="52" name="Shape 50"/>
          <p:cNvSpPr/>
          <p:nvPr/>
        </p:nvSpPr>
        <p:spPr>
          <a:xfrm>
            <a:off x="411480" y="4663440"/>
            <a:ext cx="8321040" cy="274320"/>
          </a:xfrm>
          <a:prstGeom prst="rect">
            <a:avLst/>
          </a:prstGeom>
          <a:solidFill>
            <a:srgbClr val="EFF6FF"/>
          </a:solidFill>
          <a:ln w="6350">
            <a:solidFill>
              <a:srgbClr val="BFDBFE"/>
            </a:solidFill>
            <a:prstDash val="solid"/>
          </a:ln>
        </p:spPr>
      </p:sp>
      <p:sp>
        <p:nvSpPr>
          <p:cNvPr id="53" name="Text 51"/>
          <p:cNvSpPr/>
          <p:nvPr/>
        </p:nvSpPr>
        <p:spPr>
          <a:xfrm>
            <a:off x="502920" y="4663440"/>
            <a:ext cx="8229600" cy="274320"/>
          </a:xfrm>
          <a:prstGeom prst="rect">
            <a:avLst/>
          </a:prstGeom>
          <a:noFill/>
          <a:ln/>
        </p:spPr>
        <p:txBody>
          <a:bodyPr wrap="square" rtlCol="0" anchor="ctr"/>
          <a:lstStyle/>
          <a:p>
            <a:pPr indent="0" marL="0">
              <a:buNone/>
            </a:pPr>
            <a:r>
              <a:rPr lang="en-US" sz="1000" dirty="0">
                <a:solidFill>
                  <a:srgbClr val="1E40AF"/>
                </a:solidFill>
              </a:rPr>
              <a:t>BYOK = Bring Your Own Key. Free and Indie users connect their own Anthropic API key. Managed AI = Flowfiy handles Claude — no key needed.</a:t>
            </a:r>
            <a:endParaRPr lang="en-US" sz="1000" dirty="0"/>
          </a:p>
        </p:txBody>
      </p:sp>
      <p:sp>
        <p:nvSpPr>
          <p:cNvPr id="54" name="Text 52"/>
          <p:cNvSpPr/>
          <p:nvPr/>
        </p:nvSpPr>
        <p:spPr>
          <a:xfrm>
            <a:off x="6400800" y="4910328"/>
            <a:ext cx="2560320" cy="228600"/>
          </a:xfrm>
          <a:prstGeom prst="rect">
            <a:avLst/>
          </a:prstGeom>
          <a:noFill/>
          <a:ln/>
        </p:spPr>
        <p:txBody>
          <a:bodyPr wrap="square" rtlCol="0" anchor="ctr"/>
          <a:lstStyle/>
          <a:p>
            <a:pPr algn="r" indent="0" marL="0">
              <a:buNone/>
            </a:pPr>
            <a:r>
              <a:rPr lang="en-US" sz="900" dirty="0">
                <a:solidFill>
                  <a:srgbClr val="94A3B8"/>
                </a:solidFill>
              </a:rPr>
              <a:t>flowfiy.com  |  Confidential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1A56DB">
              <a:alpha val="8000"/>
            </a:srgbClr>
          </a:solidFill>
          <a:ln/>
        </p:spPr>
      </p:sp>
      <p:sp>
        <p:nvSpPr>
          <p:cNvPr id="3" name="Shape 1"/>
          <p:cNvSpPr/>
          <p:nvPr/>
        </p:nvSpPr>
        <p:spPr>
          <a:xfrm>
            <a:off x="6400800" y="2286000"/>
            <a:ext cx="3657600" cy="3657600"/>
          </a:xfrm>
          <a:prstGeom prst="ellipse">
            <a:avLst/>
          </a:prstGeom>
          <a:solidFill>
            <a:srgbClr val="0EA5E9">
              <a:alpha val="10000"/>
            </a:srgbClr>
          </a:solidFill>
          <a:ln/>
        </p:spPr>
      </p:sp>
      <p:sp>
        <p:nvSpPr>
          <p:cNvPr id="4" name="Text 2"/>
          <p:cNvSpPr/>
          <p:nvPr/>
        </p:nvSpPr>
        <p:spPr>
          <a:xfrm>
            <a:off x="914400" y="914400"/>
            <a:ext cx="7315200" cy="548640"/>
          </a:xfrm>
          <a:prstGeom prst="rect">
            <a:avLst/>
          </a:prstGeom>
          <a:noFill/>
          <a:ln/>
        </p:spPr>
        <p:txBody>
          <a:bodyPr wrap="square" rtlCol="0" anchor="ctr"/>
          <a:lstStyle/>
          <a:p>
            <a:pPr indent="0" marL="0">
              <a:buNone/>
            </a:pPr>
            <a:r>
              <a:rPr lang="en-US" sz="1800" i="1" dirty="0">
                <a:solidFill>
                  <a:srgbClr val="93C5FD"/>
                </a:solidFill>
              </a:rPr>
              <a:t>The opportunity</a:t>
            </a:r>
            <a:endParaRPr lang="en-US" sz="1800" dirty="0"/>
          </a:p>
        </p:txBody>
      </p:sp>
      <p:sp>
        <p:nvSpPr>
          <p:cNvPr id="5" name="Text 3"/>
          <p:cNvSpPr/>
          <p:nvPr/>
        </p:nvSpPr>
        <p:spPr>
          <a:xfrm>
            <a:off x="914400" y="1417320"/>
            <a:ext cx="7315200" cy="1280160"/>
          </a:xfrm>
          <a:prstGeom prst="rect">
            <a:avLst/>
          </a:prstGeom>
          <a:noFill/>
          <a:ln/>
        </p:spPr>
        <p:txBody>
          <a:bodyPr wrap="square" rtlCol="0" anchor="ctr"/>
          <a:lstStyle/>
          <a:p>
            <a:pPr indent="0" marL="0">
              <a:buNone/>
            </a:pPr>
            <a:r>
              <a:rPr lang="en-US" sz="2200" dirty="0">
                <a:solidFill>
                  <a:srgbClr val="FFFFFF"/>
                </a:solidFill>
                <a:latin typeface="Calibri" pitchFamily="34" charset="0"/>
                <a:ea typeface="Calibri" pitchFamily="34" charset="-122"/>
                <a:cs typeface="Calibri" pitchFamily="34" charset="-120"/>
              </a:rPr>
              <a:t>Clay is a $1.5B company.</a:t>
            </a:r>
            <a:endParaRPr lang="en-US" sz="2200" dirty="0"/>
          </a:p>
          <a:p>
            <a:pPr indent="0" marL="0">
              <a:buNone/>
            </a:pPr>
            <a:r>
              <a:rPr lang="en-US" sz="2200" dirty="0">
                <a:solidFill>
                  <a:srgbClr val="FFFFFF"/>
                </a:solidFill>
                <a:latin typeface="Calibri" pitchFamily="34" charset="0"/>
                <a:ea typeface="Calibri" pitchFamily="34" charset="-122"/>
                <a:cs typeface="Calibri" pitchFamily="34" charset="-120"/>
              </a:rPr>
              <a:t>Apollo is a $1.6B company.</a:t>
            </a:r>
            <a:endParaRPr lang="en-US" sz="2200" dirty="0"/>
          </a:p>
          <a:p>
            <a:pPr indent="0" marL="0">
              <a:buNone/>
            </a:pPr>
            <a:r>
              <a:rPr lang="en-US" sz="2200" dirty="0">
                <a:solidFill>
                  <a:srgbClr val="FFFFFF"/>
                </a:solidFill>
                <a:latin typeface="Calibri" pitchFamily="34" charset="0"/>
                <a:ea typeface="Calibri" pitchFamily="34" charset="-122"/>
                <a:cs typeface="Calibri" pitchFamily="34" charset="-120"/>
              </a:rPr>
              <a:t>Both charge users for the AI compute.</a:t>
            </a:r>
            <a:endParaRPr lang="en-US" sz="2200" dirty="0"/>
          </a:p>
        </p:txBody>
      </p:sp>
      <p:sp>
        <p:nvSpPr>
          <p:cNvPr id="6" name="Text 4"/>
          <p:cNvSpPr/>
          <p:nvPr/>
        </p:nvSpPr>
        <p:spPr>
          <a:xfrm>
            <a:off x="914400" y="2697480"/>
            <a:ext cx="7315200" cy="868680"/>
          </a:xfrm>
          <a:prstGeom prst="rect">
            <a:avLst/>
          </a:prstGeom>
          <a:noFill/>
          <a:ln/>
        </p:spPr>
        <p:txBody>
          <a:bodyPr wrap="square" rtlCol="0" anchor="ctr"/>
          <a:lstStyle/>
          <a:p>
            <a:pPr indent="0" marL="0">
              <a:buNone/>
            </a:pPr>
            <a:r>
              <a:rPr lang="en-US" sz="2800" b="1" dirty="0">
                <a:solidFill>
                  <a:srgbClr val="1A56DB"/>
                </a:solidFill>
                <a:latin typeface="Calibri" pitchFamily="34" charset="0"/>
                <a:ea typeface="Calibri" pitchFamily="34" charset="-122"/>
                <a:cs typeface="Calibri" pitchFamily="34" charset="-120"/>
              </a:rPr>
              <a:t>Flowfiy doesn't.</a:t>
            </a:r>
            <a:endParaRPr lang="en-US" sz="2800" dirty="0"/>
          </a:p>
          <a:p>
            <a:pPr indent="0" marL="0">
              <a:buNone/>
            </a:pPr>
            <a:r>
              <a:rPr lang="en-US" sz="2800" b="1" dirty="0">
                <a:solidFill>
                  <a:srgbClr val="1A56DB"/>
                </a:solidFill>
                <a:latin typeface="Calibri" pitchFamily="34" charset="0"/>
                <a:ea typeface="Calibri" pitchFamily="34" charset="-122"/>
                <a:cs typeface="Calibri" pitchFamily="34" charset="-120"/>
              </a:rPr>
              <a:t>That's the entire thesis.</a:t>
            </a:r>
            <a:endParaRPr lang="en-US" sz="2800" dirty="0"/>
          </a:p>
        </p:txBody>
      </p:sp>
      <p:sp>
        <p:nvSpPr>
          <p:cNvPr id="7" name="Shape 5"/>
          <p:cNvSpPr/>
          <p:nvPr/>
        </p:nvSpPr>
        <p:spPr>
          <a:xfrm>
            <a:off x="914400" y="3675888"/>
            <a:ext cx="2743200" cy="0"/>
          </a:xfrm>
          <a:prstGeom prst="line">
            <a:avLst/>
          </a:prstGeom>
          <a:noFill/>
          <a:ln w="19050">
            <a:solidFill>
              <a:srgbClr val="1A56DB"/>
            </a:solidFill>
            <a:prstDash val="solid"/>
          </a:ln>
        </p:spPr>
      </p:sp>
      <p:sp>
        <p:nvSpPr>
          <p:cNvPr id="8" name="Text 6"/>
          <p:cNvSpPr/>
          <p:nvPr/>
        </p:nvSpPr>
        <p:spPr>
          <a:xfrm>
            <a:off x="914400" y="3822192"/>
            <a:ext cx="4572000" cy="320040"/>
          </a:xfrm>
          <a:prstGeom prst="rect">
            <a:avLst/>
          </a:prstGeom>
          <a:noFill/>
          <a:ln/>
        </p:spPr>
        <p:txBody>
          <a:bodyPr wrap="square" rtlCol="0" anchor="ctr"/>
          <a:lstStyle/>
          <a:p>
            <a:pPr indent="0" marL="0">
              <a:buNone/>
            </a:pPr>
            <a:r>
              <a:rPr lang="en-US" sz="1300" b="1" dirty="0">
                <a:solidFill>
                  <a:srgbClr val="FFFFFF"/>
                </a:solidFill>
              </a:rPr>
              <a:t>Ayush Saha  —  Founder &amp; CEO</a:t>
            </a:r>
            <a:endParaRPr lang="en-US" sz="1300" dirty="0"/>
          </a:p>
        </p:txBody>
      </p:sp>
      <p:sp>
        <p:nvSpPr>
          <p:cNvPr id="9" name="Text 7"/>
          <p:cNvSpPr/>
          <p:nvPr/>
        </p:nvSpPr>
        <p:spPr>
          <a:xfrm>
            <a:off x="914400" y="4133088"/>
            <a:ext cx="4572000" cy="274320"/>
          </a:xfrm>
          <a:prstGeom prst="rect">
            <a:avLst/>
          </a:prstGeom>
          <a:noFill/>
          <a:ln/>
        </p:spPr>
        <p:txBody>
          <a:bodyPr wrap="square" rtlCol="0" anchor="ctr"/>
          <a:lstStyle/>
          <a:p>
            <a:pPr indent="0" marL="0">
              <a:buNone/>
            </a:pPr>
            <a:r>
              <a:rPr lang="en-US" sz="1200" dirty="0">
                <a:solidFill>
                  <a:srgbClr val="94A3B8"/>
                </a:solidFill>
              </a:rPr>
              <a:t>ayush@flowfiy.com  |  flowfiy.com</a:t>
            </a:r>
            <a:endParaRPr lang="en-US" sz="1200" dirty="0"/>
          </a:p>
        </p:txBody>
      </p:sp>
      <p:sp>
        <p:nvSpPr>
          <p:cNvPr id="10" name="Text 8"/>
          <p:cNvSpPr/>
          <p:nvPr/>
        </p:nvSpPr>
        <p:spPr>
          <a:xfrm>
            <a:off x="914400" y="4453128"/>
            <a:ext cx="5486400" cy="274320"/>
          </a:xfrm>
          <a:prstGeom prst="rect">
            <a:avLst/>
          </a:prstGeom>
          <a:noFill/>
          <a:ln/>
        </p:spPr>
        <p:txBody>
          <a:bodyPr wrap="square" rtlCol="0" anchor="ctr"/>
          <a:lstStyle/>
          <a:p>
            <a:pPr indent="0" marL="0">
              <a:buNone/>
            </a:pPr>
            <a:r>
              <a:rPr lang="en-US" sz="1100" dirty="0">
                <a:solidFill>
                  <a:srgbClr val="93C5FD"/>
                </a:solidFill>
              </a:rPr>
              <a:t>Pre-seed  ·  $300K  ·  $3M pre-money  ·  Pune,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Flowfiy — How It Works</dc:title>
  <dc:subject>PptxGenJS Presentation</dc:subject>
  <dc:creator>PptxGenJS</dc:creator>
  <cp:lastModifiedBy>PptxGenJS</cp:lastModifiedBy>
  <cp:revision>1</cp:revision>
  <dcterms:created xsi:type="dcterms:W3CDTF">2026-05-30T19:04:58Z</dcterms:created>
  <dcterms:modified xsi:type="dcterms:W3CDTF">2026-05-30T19:04:58Z</dcterms:modified>
</cp:coreProperties>
</file>